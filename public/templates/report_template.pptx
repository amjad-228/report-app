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10693400" cy="15113000"/>
  <p:notesSz cx="6858000" cy="9144000"/>
  <p:embeddedFontLst>
    <p:embeddedFont>
      <p:font typeface="Calibri" panose="020F0502020204030204" pitchFamily="34" charset="0"/>
      <p:regular r:id="rId3"/>
      <p:bold r:id="rId4"/>
    </p:embeddedFont>
    <p:embeddedFont>
      <p:font typeface="Noto Sans" panose="020B0502040504020204" pitchFamily="34" charset="0"/>
      <p:regular r:id="rId5"/>
      <p:bold r:id="rId6"/>
      <p:italic r:id="rId7"/>
      <p:boldItalic r:id="rId8"/>
    </p:embeddedFont>
    <p:embeddedFont>
      <p:font typeface="Noto Sans Arabic" pitchFamily="2" charset="-78"/>
      <p:regular r:id="rId9"/>
      <p:bold r:id="rId10"/>
    </p:embeddedFont>
    <p:embeddedFont>
      <p:font typeface="Open Sans" panose="020B0606030504020204" pitchFamily="34" charset="0"/>
      <p:regular r:id="rId11"/>
      <p:bold r:id="rId12"/>
      <p:italic r:id="rId13"/>
      <p:boldItalic r:id="rId14"/>
    </p:embeddedFont>
    <p:embeddedFont>
      <p:font typeface="Times New Roman Bold" panose="02020803070505020304" pitchFamily="18" charset="0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C3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6217" autoAdjust="0"/>
    <p:restoredTop sz="94622" autoAdjust="0"/>
  </p:normalViewPr>
  <p:slideViewPr>
    <p:cSldViewPr>
      <p:cViewPr>
        <p:scale>
          <a:sx n="108" d="100"/>
          <a:sy n="108" d="100"/>
        </p:scale>
        <p:origin x="-128" y="-7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font" Target="fonts/font11.fntdata"/><Relationship Id="rId1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font" Target="fonts/font10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font" Target="fonts/font9.fntdata"/><Relationship Id="rId5" Type="http://schemas.openxmlformats.org/officeDocument/2006/relationships/font" Target="fonts/font3.fntdata"/><Relationship Id="rId15" Type="http://schemas.openxmlformats.org/officeDocument/2006/relationships/font" Target="fonts/font13.fntdata"/><Relationship Id="rId10" Type="http://schemas.openxmlformats.org/officeDocument/2006/relationships/font" Target="fonts/font8.fntdata"/><Relationship Id="rId19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font" Target="fonts/font1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12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hyperlink" Target="https://iVBORw0KGgoAAAANSUhEUgAAAuQAAALkAQAAAABv3x3IAAACYElEQVR4nO3aQZKjMAwFUN+A+98yN/BUzYAly04qi55N+2lBAbae2P2CpPX/WK9Gp9PpdDqdTqfT6XQ6nU6n0+l0Op1Op9Ppv1Fvta773r16/Wt4Fq4PbXQ6nU6n09P9PvfnhlSf2+h0Op1OP16/+65xuR7+jij5XdrodDqdTqdv9bhsbRvxdDqdTqfTv9QjofOWi06n0+l0+jf6fljbBPb6O+6i0Ol0Op1+sl5qSugPh7WNTqfT6fTj9V1Ff1y+Deyl6HQ6nU4/WY8vytOfinMal38bv+azMpFOp9Pp9JP1nnN5OfTx5htJHnofEU+n0+l0On3o0XUNruU5+bJvtnQ6nU6n0+kVzgvxIrzkctp8A3Q6nU6n09/tfWK6vAOXYF8Cm06n0+n0w/UMPzEdl1l6Zpdhywg6nU6n08/Vy5zg7pr0GLHrpdPpdDqdPt58373bttxaOnZFp9PpdDo9v+/uzHhX3sHfpDadTqfT6Yfo+eyBMzLFeV59htHpdDqdTt/unS5jSz6LhamNTqfT6fTj9X1XcKUy0spT0Ol0Op1+vB4xnftfo6tEcl82l1U6nU6n00/Wd5XnrPdypq9ndDqdTqefrLdaV92b7i2Hp/Jz0Ol0Op1+sn7lpei64am/zM4j8vPQ6XQ6nX60HjvubfGD7PSpuWR1GUun0+l0On2jt02VEM/pTqfT6XQ6/YMeWZ1TO0Zco5dOp9PpdPpXX5nLxDbXPbaPR4mi0+l0Ov1kvVSO3xZwIHlsmUOn0+l0+uH6zxedTqfT6XQ6nU6n0+l0Op1Op9PpdDqdTqf/Iv0P+tt93VO+3TQAAAAASUVORK5CYII=" TargetMode="External"/><Relationship Id="rId5" Type="http://schemas.openxmlformats.org/officeDocument/2006/relationships/image" Target="../media/image4.png"/><Relationship Id="rId10" Type="http://schemas.openxmlformats.org/officeDocument/2006/relationships/hyperlink" Target="http://www.seha.sa/#/inquiries/slenquiry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sihasa.vercel.app/#/inquiries/slenquir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457200" y="457200"/>
            <a:ext cx="9779003" cy="952500"/>
            <a:chOff x="0" y="0"/>
            <a:chExt cx="9779000" cy="952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779000" cy="952500"/>
            </a:xfrm>
            <a:custGeom>
              <a:avLst/>
              <a:gdLst/>
              <a:ahLst/>
              <a:cxnLst/>
              <a:rect l="l" t="t" r="r" b="b"/>
              <a:pathLst>
                <a:path w="9779000" h="952500">
                  <a:moveTo>
                    <a:pt x="0" y="952500"/>
                  </a:moveTo>
                  <a:lnTo>
                    <a:pt x="9779000" y="952500"/>
                  </a:lnTo>
                  <a:lnTo>
                    <a:pt x="9779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393697" y="2958651"/>
            <a:ext cx="9906000" cy="6047356"/>
          </a:xfrm>
          <a:custGeom>
            <a:avLst/>
            <a:gdLst/>
            <a:ahLst/>
            <a:cxnLst/>
            <a:rect l="l" t="t" r="r" b="b"/>
            <a:pathLst>
              <a:path w="9906000" h="6047356">
                <a:moveTo>
                  <a:pt x="0" y="0"/>
                </a:moveTo>
                <a:lnTo>
                  <a:pt x="9906000" y="0"/>
                </a:lnTo>
                <a:lnTo>
                  <a:pt x="9906000" y="6047356"/>
                </a:lnTo>
                <a:lnTo>
                  <a:pt x="0" y="6047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dirty="0"/>
          </a:p>
        </p:txBody>
      </p:sp>
      <p:sp>
        <p:nvSpPr>
          <p:cNvPr id="5" name="Freeform 5"/>
          <p:cNvSpPr/>
          <p:nvPr/>
        </p:nvSpPr>
        <p:spPr>
          <a:xfrm>
            <a:off x="3663953" y="348412"/>
            <a:ext cx="3333750" cy="1584703"/>
          </a:xfrm>
          <a:custGeom>
            <a:avLst/>
            <a:gdLst/>
            <a:ahLst/>
            <a:cxnLst/>
            <a:rect l="l" t="t" r="r" b="b"/>
            <a:pathLst>
              <a:path w="3333750" h="1584703">
                <a:moveTo>
                  <a:pt x="0" y="0"/>
                </a:moveTo>
                <a:lnTo>
                  <a:pt x="3333750" y="0"/>
                </a:lnTo>
                <a:lnTo>
                  <a:pt x="3333750" y="1584703"/>
                </a:lnTo>
                <a:lnTo>
                  <a:pt x="0" y="15847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6902453" y="457200"/>
            <a:ext cx="3333750" cy="1357760"/>
          </a:xfrm>
          <a:custGeom>
            <a:avLst/>
            <a:gdLst/>
            <a:ahLst/>
            <a:cxnLst/>
            <a:rect l="l" t="t" r="r" b="b"/>
            <a:pathLst>
              <a:path w="3333750" h="1357760">
                <a:moveTo>
                  <a:pt x="0" y="0"/>
                </a:moveTo>
                <a:lnTo>
                  <a:pt x="3333750" y="0"/>
                </a:lnTo>
                <a:lnTo>
                  <a:pt x="3333750" y="1357760"/>
                </a:lnTo>
                <a:lnTo>
                  <a:pt x="0" y="1357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457200" y="457200"/>
            <a:ext cx="1905000" cy="840867"/>
          </a:xfrm>
          <a:custGeom>
            <a:avLst/>
            <a:gdLst/>
            <a:ahLst/>
            <a:cxnLst/>
            <a:rect l="l" t="t" r="r" b="b"/>
            <a:pathLst>
              <a:path w="1905000" h="840867">
                <a:moveTo>
                  <a:pt x="0" y="0"/>
                </a:moveTo>
                <a:lnTo>
                  <a:pt x="1905000" y="0"/>
                </a:lnTo>
                <a:lnTo>
                  <a:pt x="1905000" y="840867"/>
                </a:lnTo>
                <a:lnTo>
                  <a:pt x="0" y="8408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5521328" y="9167879"/>
            <a:ext cx="19050" cy="2570226"/>
            <a:chOff x="0" y="0"/>
            <a:chExt cx="19050" cy="257022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050" cy="2570226"/>
            </a:xfrm>
            <a:custGeom>
              <a:avLst/>
              <a:gdLst/>
              <a:ahLst/>
              <a:cxnLst/>
              <a:rect l="l" t="t" r="r" b="b"/>
              <a:pathLst>
                <a:path w="19050" h="2570226">
                  <a:moveTo>
                    <a:pt x="0" y="0"/>
                  </a:moveTo>
                  <a:lnTo>
                    <a:pt x="0" y="2570226"/>
                  </a:lnTo>
                  <a:lnTo>
                    <a:pt x="19050" y="2570226"/>
                  </a:lnTo>
                  <a:lnTo>
                    <a:pt x="19050" y="0"/>
                  </a:lnTo>
                  <a:lnTo>
                    <a:pt x="0" y="0"/>
                  </a:lnTo>
                </a:path>
              </a:pathLst>
            </a:custGeom>
            <a:solidFill>
              <a:srgbClr val="DDDDDD"/>
            </a:solid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2163823" y="9167879"/>
            <a:ext cx="1428750" cy="1428750"/>
            <a:chOff x="0" y="0"/>
            <a:chExt cx="1905000" cy="1905000"/>
          </a:xfrm>
        </p:grpSpPr>
        <p:sp>
          <p:nvSpPr>
            <p:cNvPr id="11" name="Freeform 11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0"/>
              <a:ext cx="1905000" cy="1905000"/>
            </a:xfrm>
            <a:custGeom>
              <a:avLst/>
              <a:gdLst/>
              <a:ahLst/>
              <a:cxnLst/>
              <a:rect l="l" t="t" r="r" b="b"/>
              <a:pathLst>
                <a:path w="1905000" h="1905000">
                  <a:moveTo>
                    <a:pt x="127000" y="0"/>
                  </a:moveTo>
                  <a:cubicBezTo>
                    <a:pt x="56769" y="0"/>
                    <a:pt x="0" y="56896"/>
                    <a:pt x="0" y="127000"/>
                  </a:cubicBezTo>
                  <a:lnTo>
                    <a:pt x="0" y="1778000"/>
                  </a:lnTo>
                  <a:cubicBezTo>
                    <a:pt x="0" y="1848104"/>
                    <a:pt x="56769" y="1905000"/>
                    <a:pt x="127000" y="1905000"/>
                  </a:cubicBezTo>
                  <a:lnTo>
                    <a:pt x="1778000" y="1905000"/>
                  </a:lnTo>
                  <a:cubicBezTo>
                    <a:pt x="1848104" y="1905000"/>
                    <a:pt x="1905000" y="1848104"/>
                    <a:pt x="1905000" y="1778000"/>
                  </a:cubicBezTo>
                  <a:lnTo>
                    <a:pt x="1905000" y="127000"/>
                  </a:lnTo>
                  <a:cubicBezTo>
                    <a:pt x="1905000" y="56896"/>
                    <a:pt x="1848104" y="0"/>
                    <a:pt x="1778000" y="0"/>
                  </a:cubicBez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8331203" y="11738105"/>
            <a:ext cx="1905000" cy="902713"/>
          </a:xfrm>
          <a:custGeom>
            <a:avLst/>
            <a:gdLst/>
            <a:ahLst/>
            <a:cxnLst/>
            <a:rect l="l" t="t" r="r" b="b"/>
            <a:pathLst>
              <a:path w="1905000" h="902713">
                <a:moveTo>
                  <a:pt x="0" y="0"/>
                </a:moveTo>
                <a:lnTo>
                  <a:pt x="1905000" y="0"/>
                </a:lnTo>
                <a:lnTo>
                  <a:pt x="1905000" y="902713"/>
                </a:lnTo>
                <a:lnTo>
                  <a:pt x="0" y="9027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211831" y="1326642"/>
            <a:ext cx="2690622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5"/>
              </a:lnSpc>
            </a:pPr>
            <a:r>
              <a:rPr lang="en-US" sz="1725" spc="-5" dirty="0">
                <a:solidFill>
                  <a:srgbClr val="000000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Kingdom of Saudi Arabia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46697" y="1605153"/>
            <a:ext cx="72866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9"/>
              </a:lnSpc>
            </a:pPr>
            <a:r>
              <a:rPr lang="en-US" sz="2250" dirty="0">
                <a:solidFill>
                  <a:srgbClr val="2C3E77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ab Times"/>
              </a:rPr>
              <a:t>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92573" y="2010601"/>
            <a:ext cx="3640854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3149"/>
              </a:lnSpc>
            </a:pPr>
            <a:r>
              <a:rPr lang="ar-EG" sz="2250" b="1" dirty="0">
                <a:solidFill>
                  <a:srgbClr val="306DB5"/>
                </a:solidFill>
                <a:latin typeface="Noto Sans Arabic" pitchFamily="2" charset="-78"/>
                <a:ea typeface="Tahoma" panose="020B0604030504040204" pitchFamily="34" charset="0"/>
                <a:cs typeface="Noto Sans Arabic" pitchFamily="2" charset="-78"/>
                <a:sym typeface="Noto Sans Arabic Bold"/>
                <a:rtl/>
              </a:rPr>
              <a:t>تقرير إجازة مرضية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6250" y="5770893"/>
            <a:ext cx="2044969" cy="261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9"/>
              </a:lnSpc>
            </a:pPr>
            <a:r>
              <a:rPr lang="en-US" sz="1350" b="1" dirty="0">
                <a:solidFill>
                  <a:srgbClr val="366FB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6250" y="8519065"/>
            <a:ext cx="2044969" cy="25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9"/>
              </a:lnSpc>
            </a:pPr>
            <a:r>
              <a:rPr lang="en-US" sz="1350" b="1">
                <a:solidFill>
                  <a:srgbClr val="366FB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Position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6250" y="3151280"/>
            <a:ext cx="2043025" cy="22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1" dirty="0">
                <a:solidFill>
                  <a:srgbClr val="366FB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Leave ID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6250" y="7419746"/>
            <a:ext cx="2044969" cy="25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9"/>
              </a:lnSpc>
            </a:pPr>
            <a:r>
              <a:rPr lang="en-US" sz="1350" b="1">
                <a:solidFill>
                  <a:srgbClr val="366FB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Employer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76250" y="5246884"/>
            <a:ext cx="2044969" cy="25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9"/>
              </a:lnSpc>
            </a:pPr>
            <a:r>
              <a:rPr lang="en-US" sz="1350" b="1">
                <a:solidFill>
                  <a:srgbClr val="366FB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Issue Date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6250" y="6886099"/>
            <a:ext cx="2044969" cy="25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9"/>
              </a:lnSpc>
            </a:pPr>
            <a:r>
              <a:rPr lang="en-US" sz="1350" b="1">
                <a:solidFill>
                  <a:srgbClr val="366FB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Nationality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7200" y="3694328"/>
            <a:ext cx="2062075" cy="22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Leave Duration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76250" y="4713237"/>
            <a:ext cx="2044969" cy="25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9"/>
              </a:lnSpc>
            </a:pPr>
            <a:r>
              <a:rPr lang="en-US" sz="1350" b="1">
                <a:solidFill>
                  <a:srgbClr val="366FB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Discharge Date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6250" y="4187069"/>
            <a:ext cx="2044969" cy="25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9"/>
              </a:lnSpc>
            </a:pPr>
            <a:r>
              <a:rPr lang="en-US" sz="1350" b="1" dirty="0">
                <a:solidFill>
                  <a:srgbClr val="366FB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Admission Date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6250" y="7969406"/>
            <a:ext cx="2044969" cy="25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9"/>
              </a:lnSpc>
            </a:pPr>
            <a:r>
              <a:rPr lang="en-US" sz="1350" b="1">
                <a:solidFill>
                  <a:srgbClr val="366FB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Practitioner Name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76250" y="6352565"/>
            <a:ext cx="2044969" cy="25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9"/>
              </a:lnSpc>
            </a:pPr>
            <a:r>
              <a:rPr lang="en-US" sz="1350" b="1">
                <a:solidFill>
                  <a:srgbClr val="366FB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National ID / Iqama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521219" y="4233177"/>
            <a:ext cx="3117533" cy="22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spc="-4" dirty="0">
                <a:solidFill>
                  <a:srgbClr val="2C3E77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{{ENTRY_DATE_GREGORIAN}}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521219" y="4766824"/>
            <a:ext cx="3117533" cy="22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spc="-4" dirty="0">
                <a:solidFill>
                  <a:srgbClr val="2C3E77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{{EXIT_DATE_GREGORIAN}}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956428" y="7291711"/>
            <a:ext cx="174879" cy="447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1350" spc="-4">
                <a:solidFill>
                  <a:srgbClr val="2C3E77"/>
                </a:solidFill>
                <a:latin typeface="Open Sans"/>
                <a:ea typeface="Open Sans"/>
                <a:cs typeface="Open Sans"/>
                <a:sym typeface="Open Sans"/>
              </a:rPr>
              <a:t>    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530201" y="8404445"/>
            <a:ext cx="3026516" cy="543017"/>
          </a:xfrm>
          <a:prstGeom prst="rect">
            <a:avLst/>
          </a:prstGeom>
        </p:spPr>
        <p:txBody>
          <a:bodyPr lIns="0" tIns="0" rIns="0" bIns="0" rtlCol="0" anchor="ctr" anchorCtr="1">
            <a:noAutofit/>
          </a:bodyPr>
          <a:lstStyle/>
          <a:p>
            <a:pPr algn="ctr"/>
            <a:r>
              <a:rPr lang="en-US" sz="1350" spc="-4" dirty="0">
                <a:solidFill>
                  <a:srgbClr val="2C3E77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{{JOB_TITLE_EN}}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19275" y="5171666"/>
            <a:ext cx="6065540" cy="541839"/>
          </a:xfrm>
          <a:prstGeom prst="rect">
            <a:avLst/>
          </a:prstGeom>
        </p:spPr>
        <p:txBody>
          <a:bodyPr lIns="0" tIns="0" rIns="0" bIns="0" rtlCol="0" anchor="ctr" anchorCtr="1">
            <a:noAutofit/>
          </a:bodyPr>
          <a:lstStyle/>
          <a:p>
            <a:pPr algn="ctr">
              <a:lnSpc>
                <a:spcPts val="1889"/>
              </a:lnSpc>
            </a:pPr>
            <a:r>
              <a:rPr lang="en-US" sz="1350" spc="-4" dirty="0">
                <a:solidFill>
                  <a:srgbClr val="2C3E77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{{REPORT_ISSUE_DATE}}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68953" y="4233177"/>
            <a:ext cx="3076899" cy="22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spc="-4" dirty="0">
                <a:solidFill>
                  <a:srgbClr val="2C3E77"/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{{ENTRY_DATE_HIJRI}}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568953" y="4766824"/>
            <a:ext cx="3076899" cy="223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spc="-4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Open Sans"/>
                <a:cs typeface="Times New Roman" panose="02020603050405020304" pitchFamily="18" charset="0"/>
                <a:sym typeface="Open Sans"/>
              </a:rPr>
              <a:t>{{EXIT_DATE_HIJRI}}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568953" y="7431919"/>
            <a:ext cx="300037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350">
                <a:solidFill>
                  <a:srgbClr val="2C3E77"/>
                </a:solidFill>
                <a:latin typeface="Noto Sans Arabic" pitchFamily="2" charset="-78"/>
                <a:ea typeface="Noto Sans Arabic"/>
                <a:cs typeface="Noto Sans Arabic" pitchFamily="2" charset="-78"/>
                <a:sym typeface="Noto Sans Arabic"/>
                <a:rtl/>
              </a:rPr>
              <a:t>الى من يهمه الامر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62267" y="6785519"/>
            <a:ext cx="3022548" cy="521755"/>
          </a:xfrm>
          <a:prstGeom prst="rect">
            <a:avLst/>
          </a:prstGeom>
        </p:spPr>
        <p:txBody>
          <a:bodyPr lIns="0" tIns="0" rIns="0" bIns="0" rtlCol="0" anchor="ctr" anchorCtr="1">
            <a:noAutofit/>
          </a:bodyPr>
          <a:lstStyle/>
          <a:p>
            <a:pPr algn="ctr" rtl="1"/>
            <a:r>
              <a:rPr lang="en-US" sz="1350" dirty="0">
                <a:solidFill>
                  <a:srgbClr val="2C3E77"/>
                </a:solidFill>
                <a:latin typeface="Noto Sans Arabic" pitchFamily="2" charset="-78"/>
                <a:ea typeface="Noto Sans Arabic"/>
                <a:cs typeface="Noto Sans Arabic" pitchFamily="2" charset="-78"/>
                <a:sym typeface="Noto Sans Arabic"/>
              </a:rPr>
              <a:t>{{NATIONALITY_AR}}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553284" y="8404445"/>
            <a:ext cx="3029527" cy="538595"/>
          </a:xfrm>
          <a:prstGeom prst="rect">
            <a:avLst/>
          </a:prstGeom>
        </p:spPr>
        <p:txBody>
          <a:bodyPr lIns="0" tIns="0" rIns="0" bIns="0" rtlCol="0" anchor="ctr" anchorCtr="1">
            <a:noAutofit/>
          </a:bodyPr>
          <a:lstStyle/>
          <a:p>
            <a:pPr algn="ctr"/>
            <a:r>
              <a:rPr lang="en-US" sz="1350" dirty="0">
                <a:solidFill>
                  <a:srgbClr val="2C3E77"/>
                </a:solidFill>
                <a:latin typeface="Noto Sans Arabic" pitchFamily="2" charset="-78"/>
                <a:ea typeface="Noto Sans Arabic"/>
                <a:cs typeface="Noto Sans Arabic" pitchFamily="2" charset="-78"/>
                <a:sym typeface="Noto Sans Arabic"/>
              </a:rPr>
              <a:t>{{JOB_TITLE_AR}}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554376" y="5703805"/>
            <a:ext cx="3029528" cy="531455"/>
          </a:xfrm>
          <a:prstGeom prst="rect">
            <a:avLst/>
          </a:prstGeom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1350" dirty="0">
                <a:solidFill>
                  <a:srgbClr val="2C3E77"/>
                </a:solidFill>
                <a:latin typeface="Noto Sans Arabic" pitchFamily="2" charset="-78"/>
                <a:ea typeface="Microsoft GothicNeo" panose="020B0500000101010101" pitchFamily="34" charset="-127"/>
                <a:cs typeface="Noto Sans Arabic" pitchFamily="2" charset="-78"/>
                <a:sym typeface="Noto Sans Arabic"/>
              </a:rPr>
              <a:t>{{NAME_AR}}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562267" y="7846612"/>
            <a:ext cx="3022548" cy="560933"/>
          </a:xfrm>
          <a:prstGeom prst="rect">
            <a:avLst/>
          </a:prstGeom>
        </p:spPr>
        <p:txBody>
          <a:bodyPr lIns="0" tIns="0" rIns="0" bIns="0" rtlCol="0" anchor="ctr" anchorCtr="1">
            <a:noAutofit/>
          </a:bodyPr>
          <a:lstStyle/>
          <a:p>
            <a:pPr algn="ctr"/>
            <a:r>
              <a:rPr lang="en-US" sz="1350" dirty="0">
                <a:solidFill>
                  <a:srgbClr val="2C3E77"/>
                </a:solidFill>
                <a:latin typeface="Noto Sans Arabic" pitchFamily="2" charset="-78"/>
                <a:ea typeface="Noto Sans Arabic"/>
                <a:cs typeface="Noto Sans Arabic" pitchFamily="2" charset="-78"/>
                <a:sym typeface="Noto Sans Arabic"/>
              </a:rPr>
              <a:t>{{DOCTOR_NAME_AR}}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578310" y="5838711"/>
            <a:ext cx="1657893" cy="251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350" b="1">
                <a:solidFill>
                  <a:srgbClr val="366FB5"/>
                </a:solidFill>
                <a:latin typeface="Noto Sans Arabic" pitchFamily="2" charset="-78"/>
                <a:ea typeface="Tahoma" panose="020B0604030504040204" pitchFamily="34" charset="0"/>
                <a:cs typeface="Noto Sans Arabic" pitchFamily="2" charset="-78"/>
                <a:sym typeface="Noto Sans Arabic Bold"/>
                <a:rtl/>
              </a:rPr>
              <a:t>الاسم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584815" y="6905768"/>
            <a:ext cx="1657893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350" b="1">
                <a:solidFill>
                  <a:srgbClr val="366FB5"/>
                </a:solidFill>
                <a:latin typeface="Noto Sans Arabic" pitchFamily="2" charset="-78"/>
                <a:ea typeface="Tahoma" panose="020B0604030504040204" pitchFamily="34" charset="0"/>
                <a:cs typeface="Noto Sans Arabic" pitchFamily="2" charset="-78"/>
                <a:sym typeface="Noto Sans Arabic Bold"/>
                <a:rtl/>
              </a:rPr>
              <a:t>الجنسية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569328" y="3161424"/>
            <a:ext cx="1666875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350" b="1" dirty="0">
                <a:solidFill>
                  <a:srgbClr val="366FB5"/>
                </a:solidFill>
                <a:latin typeface="Noto Sans Arabic" pitchFamily="2" charset="-78"/>
                <a:ea typeface="Tahoma" panose="020B0604030504040204" pitchFamily="34" charset="0"/>
                <a:cs typeface="Noto Sans Arabic" pitchFamily="2" charset="-78"/>
                <a:sym typeface="Noto Sans Arabic Bold"/>
                <a:rtl/>
              </a:rPr>
              <a:t>رمز الإجازة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584816" y="7439292"/>
            <a:ext cx="1651388" cy="24365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350" b="1" dirty="0">
                <a:solidFill>
                  <a:srgbClr val="366FB5"/>
                </a:solidFill>
                <a:latin typeface="Noto Sans Arabic" pitchFamily="2" charset="-78"/>
                <a:ea typeface="Tahoma" panose="020B0604030504040204" pitchFamily="34" charset="0"/>
                <a:cs typeface="Noto Sans Arabic" pitchFamily="2" charset="-78"/>
                <a:sym typeface="Noto Sans Arabic Bold"/>
                <a:rtl/>
              </a:rPr>
              <a:t>جهة العمل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578310" y="3704473"/>
            <a:ext cx="1657893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350" b="1" dirty="0">
                <a:solidFill>
                  <a:srgbClr val="FFFFFF"/>
                </a:solidFill>
                <a:latin typeface="Noto Sans Arabic" pitchFamily="2" charset="-78"/>
                <a:ea typeface="Tahoma" panose="020B0604030504040204" pitchFamily="34" charset="0"/>
                <a:cs typeface="Noto Sans Arabic" pitchFamily="2" charset="-78"/>
                <a:sym typeface="Noto Sans Arabic Bold"/>
                <a:rtl/>
              </a:rPr>
              <a:t>مدة الإجازة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578310" y="4771528"/>
            <a:ext cx="1657893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350" b="1" dirty="0">
                <a:solidFill>
                  <a:srgbClr val="366FB5"/>
                </a:solidFill>
                <a:latin typeface="Noto Sans Arabic" pitchFamily="2" charset="-78"/>
                <a:ea typeface="Tahoma" panose="020B0604030504040204" pitchFamily="34" charset="0"/>
                <a:cs typeface="Noto Sans Arabic" pitchFamily="2" charset="-78"/>
                <a:sym typeface="Noto Sans Arabic Bold"/>
                <a:rtl/>
              </a:rPr>
              <a:t>تاريخ الخروج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514489" y="4272188"/>
            <a:ext cx="1758731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350" b="1">
                <a:solidFill>
                  <a:srgbClr val="366FB5"/>
                </a:solidFill>
                <a:latin typeface="Noto Sans Arabic" pitchFamily="2" charset="-78"/>
                <a:ea typeface="Tahoma" panose="020B0604030504040204" pitchFamily="34" charset="0"/>
                <a:cs typeface="Noto Sans Arabic" pitchFamily="2" charset="-78"/>
                <a:sym typeface="Noto Sans Arabic Bold"/>
                <a:rtl/>
              </a:rPr>
              <a:t>تاريخ الدخول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578310" y="7992853"/>
            <a:ext cx="1657893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350" b="1">
                <a:solidFill>
                  <a:srgbClr val="366FB5"/>
                </a:solidFill>
                <a:latin typeface="Noto Sans Arabic" pitchFamily="2" charset="-78"/>
                <a:ea typeface="Tahoma" panose="020B0604030504040204" pitchFamily="34" charset="0"/>
                <a:cs typeface="Noto Sans Arabic" pitchFamily="2" charset="-78"/>
                <a:sym typeface="Noto Sans Arabic Bold"/>
                <a:rtl/>
              </a:rPr>
              <a:t>اسم الممارس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581564" y="8574862"/>
            <a:ext cx="1657892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350" b="1">
                <a:solidFill>
                  <a:srgbClr val="366FB5"/>
                </a:solidFill>
                <a:latin typeface="Noto Sans Arabic" pitchFamily="2" charset="-78"/>
                <a:ea typeface="Tahoma" panose="020B0604030504040204" pitchFamily="34" charset="0"/>
                <a:cs typeface="Noto Sans Arabic" pitchFamily="2" charset="-78"/>
                <a:sym typeface="Noto Sans Arabic Bold"/>
                <a:rtl/>
              </a:rPr>
              <a:t>المسمى الوظيفى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578310" y="6372235"/>
            <a:ext cx="1657893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350" b="1" dirty="0">
                <a:solidFill>
                  <a:srgbClr val="366FB5"/>
                </a:solidFill>
                <a:latin typeface="Noto Sans Arabic" pitchFamily="2" charset="-78"/>
                <a:ea typeface="Tahoma" panose="020B0604030504040204" pitchFamily="34" charset="0"/>
                <a:cs typeface="Noto Sans Arabic" pitchFamily="2" charset="-78"/>
                <a:sym typeface="Noto Sans Arabic Bold"/>
                <a:rtl/>
              </a:rPr>
              <a:t>رقم الهوية / الاقامة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578310" y="5305186"/>
            <a:ext cx="1657893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1889"/>
              </a:lnSpc>
            </a:pPr>
            <a:r>
              <a:rPr lang="ar-EG" sz="1350" b="1">
                <a:solidFill>
                  <a:srgbClr val="366FB5"/>
                </a:solidFill>
                <a:latin typeface="Noto Sans Arabic" pitchFamily="2" charset="-78"/>
                <a:ea typeface="Tahoma" panose="020B0604030504040204" pitchFamily="34" charset="0"/>
                <a:cs typeface="Noto Sans Arabic" pitchFamily="2" charset="-78"/>
                <a:sym typeface="Noto Sans Arabic Bold"/>
                <a:rtl/>
              </a:rPr>
              <a:t>تاريخ إصدار التقرير</a:t>
            </a:r>
          </a:p>
        </p:txBody>
      </p:sp>
      <p:sp>
        <p:nvSpPr>
          <p:cNvPr id="58" name="TextBox 58">
            <a:hlinkClick r:id="rId9"/>
          </p:cNvPr>
          <p:cNvSpPr txBox="1"/>
          <p:nvPr/>
        </p:nvSpPr>
        <p:spPr>
          <a:xfrm>
            <a:off x="1619560" y="11440144"/>
            <a:ext cx="2592271" cy="1690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93"/>
              </a:lnSpc>
            </a:pPr>
            <a:r>
              <a:rPr lang="en-US" sz="1125" b="1" dirty="0">
                <a:solidFill>
                  <a:srgbClr val="0000FF"/>
                </a:solidFill>
                <a:latin typeface="Times New Roman Bold"/>
                <a:ea typeface="Times New Roman Bold"/>
                <a:cs typeface="Times New Roman Bold"/>
                <a:sym typeface="Times New Roman Bold"/>
                <a:hlinkClick r:id="rId10"/>
              </a:rPr>
              <a:t>www.seha.sa/#/inquiries/slenquiry</a:t>
            </a:r>
            <a:endParaRPr lang="en-US" sz="1125" b="1" dirty="0">
              <a:solidFill>
                <a:srgbClr val="0000FF"/>
              </a:solidFill>
              <a:latin typeface="Times New Roman Bold"/>
              <a:ea typeface="Times New Roman Bold"/>
              <a:cs typeface="Times New Roman Bold"/>
              <a:sym typeface="Times New Roman Bold"/>
              <a:hlinkClick r:id="rId11" tooltip="https://iVBORw0KGgoAAAANSUhEUgAAAuQAAALkAQAAAABv3x3IAAACYElEQVR4nO3aQZKjMAwFUN+A+98yN/BUzYAly04qi55N+2lBAbae2P2CpPX/WK9Gp9PpdDqdTqfT6XQ6nU6n0+l0Op1Op9Ppv1Fvta773r16/Wt4Fq4PbXQ6nU6n09P9PvfnhlSf2+h0Op1OP16/+65xuR7+jij5XdrodDqdTqdv9bhsbRvxdDqdTqfTv9QjofOWi06n0+l0+jf6fljbBPb6O+6i0Ol0Op1+sl5qSugPh7WNTqfT6fTj9V1Ff1y+Deyl6HQ6nU4/WY8vytOfinMal38bv+azMpFOp9Pp9JP1nnN5OfTx5htJHnofEU+n0+l0On3o0XUNruU5+bJvtnQ6nU6n0+kVzgvxIrzkctp8A3Q6nU6n09/tfWK6vAOXYF8Cm06n0+n0w/UMPzEdl1l6Zpdhywg6nU6n08/Vy5zg7pr0GLHrpdPpdDqdPt58373bttxaOnZFp9PpdDo9v+/uzHhX3sHfpDadTqfT6Yfo+eyBMzLFeV59htHpdDqdTt/unS5jSz6LhamNTqfT6fTj9X1XcKUy0spT0Ol0Op1+vB4xnftfo6tEcl82l1U6nU6n00/Wd5XnrPdypq9ndDqdTqefrLdaV92b7i2Hp/Jz0Ol0Op1+sn7lpei64am/zM4j8vPQ6XQ6nX60HjvubfGD7PSpuWR1GUun0+l0On2jt02VEM/pTqfT6XQ6/YMeWZ1TO0Zco5dOp9PpdPpXX5nLxDbXPbaPR4mi0+l0Ov1kvVSO3xZwIHlsmUOn0+l0+uH6zxedTqfT6XQ6nU6n0+l0Op1Op9PpdDqdTqf/Iv0P+tt93VO+3TQAAAAASUVORK5CYII=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2878198" y="11381232"/>
            <a:ext cx="36433" cy="1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3"/>
              </a:lnSpc>
            </a:pPr>
            <a:r>
              <a:rPr lang="en-US" sz="1125" dirty="0">
                <a:solidFill>
                  <a:srgbClr val="00000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ab Times"/>
              </a:rPr>
              <a:t> 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521328" y="10628364"/>
            <a:ext cx="5170672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280" b="1" dirty="0">
                <a:solidFill>
                  <a:srgbClr val="000000"/>
                </a:solidFill>
                <a:latin typeface="Noto Sans Arabic" pitchFamily="2" charset="-78"/>
                <a:ea typeface="Tahoma" panose="020B0604030504040204" pitchFamily="34" charset="0"/>
                <a:cs typeface="Noto Sans Arabic" pitchFamily="2" charset="-78"/>
                <a:sym typeface="Noto Sans Arabic Bold"/>
              </a:rPr>
              <a:t>{{HOSPITAL_NAME_AR}}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530853" y="11208210"/>
            <a:ext cx="5161147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1784"/>
              </a:lnSpc>
            </a:pPr>
            <a:r>
              <a:rPr lang="ar-EG" sz="1280" b="1" dirty="0">
                <a:solidFill>
                  <a:srgbClr val="000000"/>
                </a:solidFill>
                <a:latin typeface="Noto Sans Arabic" pitchFamily="2" charset="-78"/>
                <a:ea typeface="Tahoma" panose="020B0604030504040204" pitchFamily="34" charset="0"/>
                <a:cs typeface="Noto Sans Arabic" pitchFamily="2" charset="-78"/>
                <a:sym typeface="Noto Sans Arabic Bold"/>
                <a:rtl/>
              </a:rPr>
              <a:t>رقم الترخيص</a:t>
            </a:r>
            <a:r>
              <a:rPr lang="ar-EG" sz="1280" b="1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to Sans Arabic Bold"/>
                <a:rtl/>
              </a:rPr>
              <a:t> : </a:t>
            </a:r>
            <a:r>
              <a:rPr lang="en-US" sz="1280" b="1" dirty="0">
                <a:solidFill>
                  <a:srgbClr val="0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Noto Sans Arabic Bold"/>
              </a:rPr>
              <a:t>1410101201200270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291884" y="2541382"/>
            <a:ext cx="2255358" cy="306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3"/>
              </a:lnSpc>
            </a:pPr>
            <a:r>
              <a:rPr lang="en-US" sz="1867" b="1" dirty="0">
                <a:solidFill>
                  <a:srgbClr val="2C3E7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Sick Leave Report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76250" y="12076414"/>
            <a:ext cx="2913563" cy="298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127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{{PRINT_DATE}}</a:t>
            </a:r>
          </a:p>
        </p:txBody>
      </p:sp>
      <p:sp>
        <p:nvSpPr>
          <p:cNvPr id="64" name="Freeform 64"/>
          <p:cNvSpPr/>
          <p:nvPr/>
        </p:nvSpPr>
        <p:spPr>
          <a:xfrm>
            <a:off x="7475112" y="9291757"/>
            <a:ext cx="1343147" cy="1217227"/>
          </a:xfrm>
          <a:custGeom>
            <a:avLst/>
            <a:gdLst/>
            <a:ahLst/>
            <a:cxnLst/>
            <a:rect l="l" t="t" r="r" b="b"/>
            <a:pathLst>
              <a:path w="1343147" h="1217227">
                <a:moveTo>
                  <a:pt x="0" y="0"/>
                </a:moveTo>
                <a:lnTo>
                  <a:pt x="1343146" y="0"/>
                </a:lnTo>
                <a:lnTo>
                  <a:pt x="1343146" y="1217226"/>
                </a:lnTo>
                <a:lnTo>
                  <a:pt x="0" y="121722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73" name="TextBox 73"/>
          <p:cNvSpPr txBox="1"/>
          <p:nvPr/>
        </p:nvSpPr>
        <p:spPr>
          <a:xfrm>
            <a:off x="2530202" y="7848044"/>
            <a:ext cx="3023082" cy="556401"/>
          </a:xfrm>
          <a:prstGeom prst="rect">
            <a:avLst/>
          </a:prstGeom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1350" spc="-4" dirty="0">
                <a:solidFill>
                  <a:srgbClr val="2C3E77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{{DOCTOR_NAME_EN}}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530202" y="6773813"/>
            <a:ext cx="3023082" cy="539918"/>
          </a:xfrm>
          <a:prstGeom prst="rect">
            <a:avLst/>
          </a:prstGeom>
        </p:spPr>
        <p:txBody>
          <a:bodyPr lIns="0" tIns="0" rIns="0" bIns="0" rtlCol="0" anchor="ctr" anchorCtr="1">
            <a:noAutofit/>
          </a:bodyPr>
          <a:lstStyle/>
          <a:p>
            <a:pPr algn="ctr"/>
            <a:r>
              <a:rPr lang="en-US" sz="1350" spc="-4" dirty="0">
                <a:solidFill>
                  <a:srgbClr val="2C3E77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{{NATIONALITY_EN}}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530201" y="5719920"/>
            <a:ext cx="3023083" cy="521755"/>
          </a:xfrm>
          <a:prstGeom prst="rect">
            <a:avLst/>
          </a:prstGeom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1350" spc="-4" dirty="0">
                <a:solidFill>
                  <a:srgbClr val="2C3E77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{{NAME_EN}}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524117" y="3028830"/>
            <a:ext cx="6058695" cy="36760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1350" spc="-4" dirty="0">
                <a:solidFill>
                  <a:srgbClr val="2C3E7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{{SERVICE_CODE}}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530853" y="10909300"/>
            <a:ext cx="5170672" cy="215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sz="128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{{HOSPITAL_NAME_EN}}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476250" y="11771138"/>
            <a:ext cx="2913563" cy="298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127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{{PRINT_TIME}}</a:t>
            </a:r>
          </a:p>
        </p:txBody>
      </p:sp>
      <p:sp>
        <p:nvSpPr>
          <p:cNvPr id="82" name="TextBox 76">
            <a:extLst>
              <a:ext uri="{FF2B5EF4-FFF2-40B4-BE49-F238E27FC236}">
                <a16:creationId xmlns:a16="http://schemas.microsoft.com/office/drawing/2014/main" id="{874BD78B-64DD-E746-7E3B-A30A1E6476F1}"/>
              </a:ext>
            </a:extLst>
          </p:cNvPr>
          <p:cNvSpPr txBox="1"/>
          <p:nvPr/>
        </p:nvSpPr>
        <p:spPr>
          <a:xfrm>
            <a:off x="2530202" y="6245643"/>
            <a:ext cx="6054614" cy="529493"/>
          </a:xfrm>
          <a:prstGeom prst="rect">
            <a:avLst/>
          </a:prstGeom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n-US" sz="1350" spc="-4" dirty="0">
                <a:solidFill>
                  <a:srgbClr val="2C3E77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{{ID_NUMBER}}</a:t>
            </a:r>
          </a:p>
        </p:txBody>
      </p:sp>
      <p:sp>
        <p:nvSpPr>
          <p:cNvPr id="79" name="مستطيل 78">
            <a:hlinkClick r:id="rId9"/>
            <a:extLst>
              <a:ext uri="{FF2B5EF4-FFF2-40B4-BE49-F238E27FC236}">
                <a16:creationId xmlns:a16="http://schemas.microsoft.com/office/drawing/2014/main" id="{043D9FDE-DD0D-4AB6-8E8A-186912F0563B}"/>
              </a:ext>
            </a:extLst>
          </p:cNvPr>
          <p:cNvSpPr/>
          <p:nvPr/>
        </p:nvSpPr>
        <p:spPr>
          <a:xfrm>
            <a:off x="1601112" y="11418204"/>
            <a:ext cx="2690772" cy="1876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  <p:sp>
        <p:nvSpPr>
          <p:cNvPr id="80" name="TextBox 57">
            <a:extLst>
              <a:ext uri="{FF2B5EF4-FFF2-40B4-BE49-F238E27FC236}">
                <a16:creationId xmlns:a16="http://schemas.microsoft.com/office/drawing/2014/main" id="{A098CC4F-2879-4B32-BF48-1FAB6CDC277D}"/>
              </a:ext>
            </a:extLst>
          </p:cNvPr>
          <p:cNvSpPr txBox="1"/>
          <p:nvPr/>
        </p:nvSpPr>
        <p:spPr>
          <a:xfrm>
            <a:off x="906018" y="10577798"/>
            <a:ext cx="4023236" cy="581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2376"/>
              </a:lnSpc>
            </a:pPr>
            <a:r>
              <a:rPr lang="ar-EG" sz="1120" b="1" dirty="0">
                <a:solidFill>
                  <a:srgbClr val="000000"/>
                </a:solidFill>
                <a:latin typeface="Noto Sans Arabic" pitchFamily="2" charset="-78"/>
                <a:ea typeface="Tahoma" panose="020B0604030504040204" pitchFamily="34" charset="0"/>
                <a:cs typeface="Noto Sans Arabic" pitchFamily="2" charset="-78"/>
                <a:sym typeface="Noto Sans Arabic Bold"/>
                <a:rtl/>
              </a:rPr>
              <a:t>للتحقق من بيانات التقرير يرجى التأكد من زيارة موقع منصة</a:t>
            </a:r>
            <a:r>
              <a:rPr lang="en-US" sz="1120" b="1" dirty="0">
                <a:solidFill>
                  <a:srgbClr val="000000"/>
                </a:solidFill>
                <a:latin typeface="Noto Sans Arabic" pitchFamily="2" charset="-78"/>
                <a:ea typeface="Tahoma" panose="020B0604030504040204" pitchFamily="34" charset="0"/>
                <a:cs typeface="Noto Sans Arabic" pitchFamily="2" charset="-78"/>
                <a:sym typeface="Noto Sans Arabic Bold"/>
                <a:rtl/>
              </a:rPr>
              <a:t> </a:t>
            </a:r>
            <a:r>
              <a:rPr lang="ar-EG" sz="1120" b="1" dirty="0">
                <a:solidFill>
                  <a:srgbClr val="000000"/>
                </a:solidFill>
                <a:latin typeface="Noto Sans Arabic" pitchFamily="2" charset="-78"/>
                <a:ea typeface="Tahoma" panose="020B0604030504040204" pitchFamily="34" charset="0"/>
                <a:cs typeface="Noto Sans Arabic" pitchFamily="2" charset="-78"/>
                <a:sym typeface="Noto Sans Arabic Bold"/>
                <a:rtl/>
              </a:rPr>
              <a:t>صحة الرسم</a:t>
            </a:r>
            <a:r>
              <a:rPr lang="ar-SA" sz="1120" b="1" dirty="0">
                <a:solidFill>
                  <a:srgbClr val="000000"/>
                </a:solidFill>
                <a:latin typeface="Noto Sans Arabic" pitchFamily="2" charset="-78"/>
                <a:ea typeface="Tahoma" panose="020B0604030504040204" pitchFamily="34" charset="0"/>
                <a:cs typeface="Noto Sans Arabic" pitchFamily="2" charset="-78"/>
                <a:sym typeface="Noto Sans Arabic Bold"/>
                <a:rtl/>
              </a:rPr>
              <a:t>ي</a:t>
            </a:r>
            <a:endParaRPr lang="ar-EG" sz="1120" b="1" dirty="0">
              <a:solidFill>
                <a:srgbClr val="000000"/>
              </a:solidFill>
              <a:latin typeface="Noto Sans Arabic" pitchFamily="2" charset="-78"/>
              <a:ea typeface="Tahoma" panose="020B0604030504040204" pitchFamily="34" charset="0"/>
              <a:cs typeface="Noto Sans Arabic" pitchFamily="2" charset="-78"/>
              <a:sym typeface="Noto Sans Arabic Bold"/>
              <a:rtl/>
            </a:endParaRPr>
          </a:p>
        </p:txBody>
      </p:sp>
      <p:sp>
        <p:nvSpPr>
          <p:cNvPr id="81" name="مربع نص 80">
            <a:extLst>
              <a:ext uri="{FF2B5EF4-FFF2-40B4-BE49-F238E27FC236}">
                <a16:creationId xmlns:a16="http://schemas.microsoft.com/office/drawing/2014/main" id="{4FA247B5-5A2B-4A5C-8242-D02A3C3E0542}"/>
              </a:ext>
            </a:extLst>
          </p:cNvPr>
          <p:cNvSpPr txBox="1"/>
          <p:nvPr/>
        </p:nvSpPr>
        <p:spPr>
          <a:xfrm>
            <a:off x="12346" y="11141102"/>
            <a:ext cx="5528032" cy="26468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1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check the report please visit </a:t>
            </a:r>
            <a:r>
              <a:rPr lang="en-US" sz="112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Seha's</a:t>
            </a:r>
            <a:r>
              <a:rPr lang="en-US" sz="11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2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offical</a:t>
            </a:r>
            <a:r>
              <a:rPr lang="en-US" sz="112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website</a:t>
            </a:r>
            <a:endParaRPr lang="ar-SA" sz="112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مربع نص 32">
            <a:extLst>
              <a:ext uri="{FF2B5EF4-FFF2-40B4-BE49-F238E27FC236}">
                <a16:creationId xmlns:a16="http://schemas.microsoft.com/office/drawing/2014/main" id="{94004608-83FE-427F-B9A6-1680B825745B}"/>
              </a:ext>
            </a:extLst>
          </p:cNvPr>
          <p:cNvSpPr txBox="1"/>
          <p:nvPr/>
        </p:nvSpPr>
        <p:spPr>
          <a:xfrm>
            <a:off x="5559145" y="3583794"/>
            <a:ext cx="3025670" cy="522007"/>
          </a:xfrm>
          <a:prstGeom prst="rect">
            <a:avLst/>
          </a:prstGeom>
          <a:noFill/>
        </p:spPr>
        <p:txBody>
          <a:bodyPr wrap="square" rtlCol="1" anchor="ctr" anchorCtr="0">
            <a:noAutofit/>
          </a:bodyPr>
          <a:lstStyle/>
          <a:p>
            <a:pPr algn="ctr" rtl="1"/>
            <a:r>
              <a:rPr lang="en-US" sz="1400" dirty="0">
                <a:solidFill>
                  <a:schemeClr val="bg1"/>
                </a:solidFill>
                <a:cs typeface="+mj-cs"/>
              </a:rPr>
              <a:t>{{DAYS_COUNT}}</a:t>
            </a:r>
            <a:r>
              <a:rPr lang="ar-SA" sz="1400" dirty="0">
                <a:solidFill>
                  <a:schemeClr val="bg1"/>
                </a:solidFill>
                <a:cs typeface="+mj-cs"/>
              </a:rPr>
              <a:t> </a:t>
            </a:r>
            <a:r>
              <a:rPr lang="ar-SA" sz="1350" baseline="0" dirty="0">
                <a:solidFill>
                  <a:schemeClr val="bg1"/>
                </a:solidFill>
                <a:latin typeface="Noto Sans Arabic" pitchFamily="2" charset="-78"/>
                <a:ea typeface="Noto Sans Arabic" pitchFamily="2" charset="-78"/>
                <a:cs typeface="Noto Sans Arabic" pitchFamily="2" charset="-78"/>
              </a:rPr>
              <a:t>يوم</a:t>
            </a:r>
            <a:r>
              <a:rPr lang="ar-SA" sz="1400" dirty="0">
                <a:solidFill>
                  <a:schemeClr val="bg1"/>
                </a:solidFill>
                <a:cs typeface="+mj-cs"/>
              </a:rPr>
              <a:t> </a:t>
            </a:r>
            <a:r>
              <a:rPr lang="ar-SA" sz="1350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350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{{ENTRY_DATE_HIJRI}}</a:t>
            </a:r>
            <a:r>
              <a:rPr lang="ar-SA" sz="1350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1350" baseline="0" dirty="0">
                <a:solidFill>
                  <a:schemeClr val="bg1"/>
                </a:solidFill>
                <a:latin typeface="Noto Sans Arabic" pitchFamily="2" charset="-78"/>
                <a:ea typeface="Noto Sans Arabic" pitchFamily="2" charset="-78"/>
                <a:cs typeface="Noto Sans Arabic" pitchFamily="2" charset="-78"/>
              </a:rPr>
              <a:t>الى </a:t>
            </a:r>
            <a:r>
              <a:rPr lang="en-US" sz="1350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{{EXIT_DATE_HIJRI}}</a:t>
            </a:r>
            <a:r>
              <a:rPr lang="en-US" sz="13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13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SA" sz="1350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مربع نص 82">
            <a:extLst>
              <a:ext uri="{FF2B5EF4-FFF2-40B4-BE49-F238E27FC236}">
                <a16:creationId xmlns:a16="http://schemas.microsoft.com/office/drawing/2014/main" id="{1456EAF8-0D44-406F-9AD5-F47CA8378629}"/>
              </a:ext>
            </a:extLst>
          </p:cNvPr>
          <p:cNvSpPr txBox="1"/>
          <p:nvPr/>
        </p:nvSpPr>
        <p:spPr>
          <a:xfrm>
            <a:off x="2536597" y="3583795"/>
            <a:ext cx="3022548" cy="522007"/>
          </a:xfrm>
          <a:prstGeom prst="rect">
            <a:avLst/>
          </a:prstGeom>
          <a:noFill/>
        </p:spPr>
        <p:txBody>
          <a:bodyPr wrap="square" rtlCol="1" anchor="ctr" anchorCtr="0">
            <a:noAutofit/>
          </a:bodyPr>
          <a:lstStyle/>
          <a:p>
            <a:pPr algn="ctr" rtl="1"/>
            <a:r>
              <a:rPr lang="en-US" sz="1350" baseline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{{DAYS_COUNT}} day ( {{ENTRY_DATE_GREGORIAN}} to {{EXIT_DATE_GREGORIAN}} )</a:t>
            </a:r>
            <a:endParaRPr lang="ar-SA" sz="1350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261</Words>
  <Application>Microsoft Office PowerPoint</Application>
  <PresentationFormat>مخصص</PresentationFormat>
  <Paragraphs>54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7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9" baseType="lpstr">
      <vt:lpstr>Times New Roman</vt:lpstr>
      <vt:lpstr>Open Sans</vt:lpstr>
      <vt:lpstr>Calibri</vt:lpstr>
      <vt:lpstr>Noto Sans Arabic</vt:lpstr>
      <vt:lpstr>Noto Sans</vt:lpstr>
      <vt:lpstr>Arial</vt:lpstr>
      <vt:lpstr>Times New Roman Bold</vt:lpstr>
      <vt:lpstr>Office Theme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نسخة من sickLeaves-11.pdf</dc:title>
  <dc:creator>Dell</dc:creator>
  <cp:lastModifiedBy>Amjad Alsabry</cp:lastModifiedBy>
  <cp:revision>39</cp:revision>
  <dcterms:created xsi:type="dcterms:W3CDTF">2006-08-16T00:00:00Z</dcterms:created>
  <dcterms:modified xsi:type="dcterms:W3CDTF">2026-04-28T22:41:24Z</dcterms:modified>
  <dc:identifier>DAG9MLGmOeo</dc:identifier>
</cp:coreProperties>
</file>