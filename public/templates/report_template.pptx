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2"/>
  </p:sldIdLst>
  <p:sldSz cx="10693400" cy="15113000"/>
  <p:notesSz cx="6858000" cy="9144000"/>
  <p:embeddedFontLst>
    <p:embeddedFont>
      <p:font typeface="Calibri" panose="020F0502020204030204" pitchFamily="34" charset="0"/>
      <p:regular r:id="rId3"/>
      <p:bold r:id="rId4"/>
    </p:embeddedFont>
    <p:embeddedFont>
      <p:font typeface="Noto Sans" panose="020B0502040504020204" pitchFamily="34" charset="0"/>
      <p:regular r:id="rId5"/>
    </p:embeddedFont>
    <p:embeddedFont>
      <p:font typeface="Noto Sans Arabic" pitchFamily="2" charset="-78"/>
      <p:regular r:id="rId6"/>
      <p:bold r:id="rId7"/>
    </p:embeddedFont>
    <p:embeddedFont>
      <p:font typeface="Open Sans" panose="020B0606030504020204" pitchFamily="34" charset="0"/>
      <p:regular r:id="rId8"/>
      <p:bold r:id="rId9"/>
      <p:italic r:id="rId10"/>
      <p:boldItalic r:id="rId11"/>
    </p:embeddedFont>
    <p:embeddedFont>
      <p:font typeface="Times New Roman Bold" panose="02020803070505020304" pitchFamily="18" charset="0"/>
      <p:bold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648" userDrawn="1">
          <p15:clr>
            <a:srgbClr val="A4A3A4"/>
          </p15:clr>
        </p15:guide>
        <p15:guide id="2" pos="1592" userDrawn="1">
          <p15:clr>
            <a:srgbClr val="A4A3A4"/>
          </p15:clr>
        </p15:guide>
        <p15:guide id="3" pos="54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06DB5"/>
    <a:srgbClr val="2C3E77"/>
    <a:srgbClr val="366FB5"/>
    <a:srgbClr val="E0E0E0"/>
    <a:srgbClr val="F7F7F7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نمط متوسط 2 - تميي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5538" autoAdjust="0"/>
    <p:restoredTop sz="94622" autoAdjust="0"/>
  </p:normalViewPr>
  <p:slideViewPr>
    <p:cSldViewPr>
      <p:cViewPr>
        <p:scale>
          <a:sx n="101" d="100"/>
          <a:sy n="101" d="100"/>
        </p:scale>
        <p:origin x="200" y="48"/>
      </p:cViewPr>
      <p:guideLst>
        <p:guide orient="horz" pos="2648"/>
        <p:guide pos="1592"/>
        <p:guide pos="54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presProps" Target="presProps.xml"/><Relationship Id="rId3" Type="http://schemas.openxmlformats.org/officeDocument/2006/relationships/font" Target="fonts/font1.fntdata"/><Relationship Id="rId7" Type="http://schemas.openxmlformats.org/officeDocument/2006/relationships/font" Target="fonts/font5.fntdata"/><Relationship Id="rId12" Type="http://schemas.openxmlformats.org/officeDocument/2006/relationships/font" Target="fonts/font10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font" Target="fonts/font9.fntdata"/><Relationship Id="rId5" Type="http://schemas.openxmlformats.org/officeDocument/2006/relationships/font" Target="fonts/font3.fntdata"/><Relationship Id="rId15" Type="http://schemas.openxmlformats.org/officeDocument/2006/relationships/theme" Target="theme/theme1.xml"/><Relationship Id="rId10" Type="http://schemas.openxmlformats.org/officeDocument/2006/relationships/font" Target="fonts/font8.fntdata"/><Relationship Id="rId4" Type="http://schemas.openxmlformats.org/officeDocument/2006/relationships/font" Target="fonts/font2.fntdata"/><Relationship Id="rId9" Type="http://schemas.openxmlformats.org/officeDocument/2006/relationships/font" Target="fonts/font7.fntdata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://www.seha.sa/#/inquiries/slenquiry" TargetMode="External"/><Relationship Id="rId3" Type="http://schemas.openxmlformats.org/officeDocument/2006/relationships/image" Target="../media/image2.png"/><Relationship Id="rId7" Type="http://schemas.openxmlformats.org/officeDocument/2006/relationships/hyperlink" Target="https://sihasa.vercel.app/#/inquiries/slenquiry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10" Type="http://schemas.openxmlformats.org/officeDocument/2006/relationships/image" Target="../media/image6.jpeg"/><Relationship Id="rId4" Type="http://schemas.openxmlformats.org/officeDocument/2006/relationships/image" Target="../media/image3.png"/><Relationship Id="rId9" Type="http://schemas.openxmlformats.org/officeDocument/2006/relationships/hyperlink" Target="https://iVBORw0KGgoAAAANSUhEUgAAAuQAAALkAQAAAABv3x3IAAACYElEQVR4nO3aQZKjMAwFUN+A+98yN/BUzYAly04qi55N+2lBAbae2P2CpPX/WK9Gp9PpdDqdTqfT6XQ6nU6n0+l0Op1Op9Ppv1Fvta773r16/Wt4Fq4PbXQ6nU6n09P9PvfnhlSf2+h0Op1OP16/+65xuR7+jij5XdrodDqdTqdv9bhsbRvxdDqdTqfTv9QjofOWi06n0+l0+jf6fljbBPb6O+6i0Ol0Op1+sl5qSugPh7WNTqfT6fTj9V1Ff1y+Deyl6HQ6nU4/WY8vytOfinMal38bv+azMpFOp9Pp9JP1nnN5OfTx5htJHnofEU+n0+l0On3o0XUNruU5+bJvtnQ6nU6n0+kVzgvxIrzkctp8A3Q6nU6n09/tfWK6vAOXYF8Cm06n0+n0w/UMPzEdl1l6Zpdhywg6nU6n08/Vy5zg7pr0GLHrpdPpdDqdPt58373bttxaOnZFp9PpdDo9v+/uzHhX3sHfpDadTqfT6Yfo+eyBMzLFeV59htHpdDqdTt/unS5jSz6LhamNTqfT6fTj9X1XcKUy0spT0Ol0Op1+vB4xnftfo6tEcl82l1U6nU6n00/Wd5XnrPdypq9ndDqdTqefrLdaV92b7i2Hp/Jz0Ol0Op1+sn7lpei64am/zM4j8vPQ6XQ6nX60HjvubfGD7PSpuWR1GUun0+l0On2jt02VEM/pTqfT6XQ6/YMeWZ1TO0Zco5dOp9PpdPpXX5nLxDbXPbaPR4mi0+l0Ov1kvVSO3xZwIHlsmUOn0+l0+uH6zxedTqfT6XQ6nU6n0+l0Op1Op9PpdDqdTqf/Iv0P+tt93VO+3TQAAAAASUVORK5CYII=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457200" y="457200"/>
            <a:ext cx="9779003" cy="952500"/>
            <a:chOff x="0" y="0"/>
            <a:chExt cx="9779000" cy="9525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9779000" cy="952500"/>
            </a:xfrm>
            <a:custGeom>
              <a:avLst/>
              <a:gdLst/>
              <a:ahLst/>
              <a:cxnLst/>
              <a:rect l="l" t="t" r="r" b="b"/>
              <a:pathLst>
                <a:path w="9779000" h="952500">
                  <a:moveTo>
                    <a:pt x="0" y="952500"/>
                  </a:moveTo>
                  <a:lnTo>
                    <a:pt x="9779000" y="952500"/>
                  </a:lnTo>
                  <a:lnTo>
                    <a:pt x="97790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5" name="Freeform 5"/>
          <p:cNvSpPr/>
          <p:nvPr/>
        </p:nvSpPr>
        <p:spPr>
          <a:xfrm>
            <a:off x="3663953" y="348412"/>
            <a:ext cx="3333750" cy="1584703"/>
          </a:xfrm>
          <a:custGeom>
            <a:avLst/>
            <a:gdLst/>
            <a:ahLst/>
            <a:cxnLst/>
            <a:rect l="l" t="t" r="r" b="b"/>
            <a:pathLst>
              <a:path w="3333750" h="1584703">
                <a:moveTo>
                  <a:pt x="0" y="0"/>
                </a:moveTo>
                <a:lnTo>
                  <a:pt x="3333750" y="0"/>
                </a:lnTo>
                <a:lnTo>
                  <a:pt x="3333750" y="1584703"/>
                </a:lnTo>
                <a:lnTo>
                  <a:pt x="0" y="158470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Freeform 6"/>
          <p:cNvSpPr/>
          <p:nvPr/>
        </p:nvSpPr>
        <p:spPr>
          <a:xfrm>
            <a:off x="6902453" y="457200"/>
            <a:ext cx="3333750" cy="1357760"/>
          </a:xfrm>
          <a:custGeom>
            <a:avLst/>
            <a:gdLst/>
            <a:ahLst/>
            <a:cxnLst/>
            <a:rect l="l" t="t" r="r" b="b"/>
            <a:pathLst>
              <a:path w="3333750" h="1357760">
                <a:moveTo>
                  <a:pt x="0" y="0"/>
                </a:moveTo>
                <a:lnTo>
                  <a:pt x="3333750" y="0"/>
                </a:lnTo>
                <a:lnTo>
                  <a:pt x="3333750" y="1357760"/>
                </a:lnTo>
                <a:lnTo>
                  <a:pt x="0" y="135776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7" name="Freeform 7"/>
          <p:cNvSpPr/>
          <p:nvPr/>
        </p:nvSpPr>
        <p:spPr>
          <a:xfrm>
            <a:off x="457200" y="457200"/>
            <a:ext cx="1905000" cy="840867"/>
          </a:xfrm>
          <a:custGeom>
            <a:avLst/>
            <a:gdLst/>
            <a:ahLst/>
            <a:cxnLst/>
            <a:rect l="l" t="t" r="r" b="b"/>
            <a:pathLst>
              <a:path w="1905000" h="840867">
                <a:moveTo>
                  <a:pt x="0" y="0"/>
                </a:moveTo>
                <a:lnTo>
                  <a:pt x="1905000" y="0"/>
                </a:lnTo>
                <a:lnTo>
                  <a:pt x="1905000" y="840867"/>
                </a:lnTo>
                <a:lnTo>
                  <a:pt x="0" y="8408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5521328" y="9167879"/>
            <a:ext cx="19050" cy="2570226"/>
            <a:chOff x="0" y="0"/>
            <a:chExt cx="19050" cy="257022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9050" cy="2570226"/>
            </a:xfrm>
            <a:custGeom>
              <a:avLst/>
              <a:gdLst/>
              <a:ahLst/>
              <a:cxnLst/>
              <a:rect l="l" t="t" r="r" b="b"/>
              <a:pathLst>
                <a:path w="19050" h="2570226">
                  <a:moveTo>
                    <a:pt x="0" y="0"/>
                  </a:moveTo>
                  <a:lnTo>
                    <a:pt x="0" y="2570226"/>
                  </a:lnTo>
                  <a:lnTo>
                    <a:pt x="19050" y="2570226"/>
                  </a:lnTo>
                  <a:lnTo>
                    <a:pt x="19050" y="0"/>
                  </a:lnTo>
                  <a:lnTo>
                    <a:pt x="0" y="0"/>
                  </a:lnTo>
                </a:path>
              </a:pathLst>
            </a:custGeom>
            <a:solidFill>
              <a:srgbClr val="DDDDDD"/>
            </a:solidFill>
          </p:spPr>
        </p:sp>
      </p:grpSp>
      <p:grpSp>
        <p:nvGrpSpPr>
          <p:cNvPr id="10" name="Group 10"/>
          <p:cNvGrpSpPr>
            <a:grpSpLocks noChangeAspect="1"/>
          </p:cNvGrpSpPr>
          <p:nvPr/>
        </p:nvGrpSpPr>
        <p:grpSpPr>
          <a:xfrm>
            <a:off x="2163823" y="9167879"/>
            <a:ext cx="1428750" cy="1428750"/>
            <a:chOff x="0" y="0"/>
            <a:chExt cx="1905000" cy="1905000"/>
          </a:xfrm>
        </p:grpSpPr>
        <p:sp>
          <p:nvSpPr>
            <p:cNvPr id="11" name="Freeform 11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0"/>
              <a:ext cx="1905000" cy="1905000"/>
            </a:xfrm>
            <a:custGeom>
              <a:avLst/>
              <a:gdLst/>
              <a:ahLst/>
              <a:cxnLst/>
              <a:rect l="l" t="t" r="r" b="b"/>
              <a:pathLst>
                <a:path w="1905000" h="1905000">
                  <a:moveTo>
                    <a:pt x="127000" y="0"/>
                  </a:moveTo>
                  <a:cubicBezTo>
                    <a:pt x="56769" y="0"/>
                    <a:pt x="0" y="56896"/>
                    <a:pt x="0" y="127000"/>
                  </a:cubicBezTo>
                  <a:lnTo>
                    <a:pt x="0" y="1778000"/>
                  </a:lnTo>
                  <a:cubicBezTo>
                    <a:pt x="0" y="1848104"/>
                    <a:pt x="56769" y="1905000"/>
                    <a:pt x="127000" y="1905000"/>
                  </a:cubicBezTo>
                  <a:lnTo>
                    <a:pt x="1778000" y="1905000"/>
                  </a:lnTo>
                  <a:cubicBezTo>
                    <a:pt x="1848104" y="1905000"/>
                    <a:pt x="1905000" y="1848104"/>
                    <a:pt x="1905000" y="1778000"/>
                  </a:cubicBezTo>
                  <a:lnTo>
                    <a:pt x="1905000" y="127000"/>
                  </a:lnTo>
                  <a:cubicBezTo>
                    <a:pt x="1905000" y="56896"/>
                    <a:pt x="1848104" y="0"/>
                    <a:pt x="1778000" y="0"/>
                  </a:cubicBez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  <p:sp>
        <p:nvSpPr>
          <p:cNvPr id="12" name="Freeform 12"/>
          <p:cNvSpPr/>
          <p:nvPr/>
        </p:nvSpPr>
        <p:spPr>
          <a:xfrm>
            <a:off x="8331203" y="11738105"/>
            <a:ext cx="1905000" cy="902713"/>
          </a:xfrm>
          <a:custGeom>
            <a:avLst/>
            <a:gdLst/>
            <a:ahLst/>
            <a:cxnLst/>
            <a:rect l="l" t="t" r="r" b="b"/>
            <a:pathLst>
              <a:path w="1905000" h="902713">
                <a:moveTo>
                  <a:pt x="0" y="0"/>
                </a:moveTo>
                <a:lnTo>
                  <a:pt x="1905000" y="0"/>
                </a:lnTo>
                <a:lnTo>
                  <a:pt x="1905000" y="902713"/>
                </a:lnTo>
                <a:lnTo>
                  <a:pt x="0" y="90271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3" name="TextBox 13"/>
          <p:cNvSpPr txBox="1"/>
          <p:nvPr/>
        </p:nvSpPr>
        <p:spPr>
          <a:xfrm>
            <a:off x="4211831" y="1326642"/>
            <a:ext cx="2690622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885"/>
              </a:lnSpc>
            </a:pPr>
            <a:r>
              <a:rPr lang="en-US" sz="1725" spc="-5" dirty="0">
                <a:latin typeface="Times New Roman" panose="02020603050405020304" pitchFamily="18" charset="0"/>
                <a:ea typeface="Open Sans"/>
                <a:cs typeface="Times New Roman" panose="02020603050405020304" pitchFamily="18" charset="0"/>
                <a:sym typeface="Open Sans"/>
              </a:rPr>
              <a:t>Kingdom of Saudi Arabia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46697" y="1605153"/>
            <a:ext cx="72866" cy="3206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59"/>
              </a:lnSpc>
            </a:pPr>
            <a:r>
              <a:rPr lang="en-US" sz="2250">
                <a:solidFill>
                  <a:srgbClr val="2C3E77"/>
                </a:solidFill>
                <a:latin typeface="Noto Sans" panose="020B0502040504020204" pitchFamily="34" charset="0"/>
                <a:ea typeface="Noto Sans" panose="020B0502040504020204" pitchFamily="34" charset="0"/>
                <a:cs typeface="Arab Times"/>
                <a:sym typeface="Arab Times"/>
              </a:rPr>
              <a:t> 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594100" y="2010601"/>
            <a:ext cx="3640854" cy="3975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rtl="1">
              <a:lnSpc>
                <a:spcPts val="3149"/>
              </a:lnSpc>
            </a:pPr>
            <a:r>
              <a:rPr lang="ar-EG" sz="2250" b="1" dirty="0">
                <a:solidFill>
                  <a:srgbClr val="306DB5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تقرير إجازة مرضية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3956428" y="7291711"/>
            <a:ext cx="174879" cy="447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5"/>
              </a:lnSpc>
            </a:pPr>
            <a:r>
              <a:rPr lang="en-US" sz="1350" spc="-4">
                <a:solidFill>
                  <a:srgbClr val="2C3E77"/>
                </a:solidFill>
                <a:latin typeface="Open Sans"/>
                <a:ea typeface="Open Sans"/>
                <a:cs typeface="Open Sans"/>
                <a:sym typeface="Open Sans"/>
              </a:rPr>
              <a:t>    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906018" y="10577798"/>
            <a:ext cx="4023236" cy="5816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2376"/>
              </a:lnSpc>
            </a:pPr>
            <a:r>
              <a:rPr lang="ar-EG" sz="1120" b="1" dirty="0">
                <a:solidFill>
                  <a:srgbClr val="000000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للتحقق من بيانات التقرير يرجى التأكد من زيارة موقع منصة</a:t>
            </a:r>
            <a:r>
              <a:rPr lang="en-US" sz="1120" b="1" dirty="0">
                <a:solidFill>
                  <a:srgbClr val="000000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 </a:t>
            </a:r>
            <a:r>
              <a:rPr lang="ar-EG" sz="1120" b="1" dirty="0">
                <a:solidFill>
                  <a:srgbClr val="000000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صحة الرسم</a:t>
            </a:r>
            <a:r>
              <a:rPr lang="ar-SA" sz="1120" b="1" dirty="0">
                <a:solidFill>
                  <a:srgbClr val="000000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ي</a:t>
            </a:r>
            <a:endParaRPr lang="ar-EG" sz="1120" b="1" dirty="0">
              <a:solidFill>
                <a:srgbClr val="000000"/>
              </a:solidFill>
              <a:latin typeface="Noto Sans Arabic" pitchFamily="2" charset="-78"/>
              <a:ea typeface="Tahoma" panose="020B0604030504040204" pitchFamily="34" charset="0"/>
              <a:cs typeface="Noto Sans Arabic" pitchFamily="2" charset="-78"/>
              <a:sym typeface="Noto Sans Arabic Bold"/>
              <a:rtl/>
            </a:endParaRPr>
          </a:p>
        </p:txBody>
      </p:sp>
      <p:sp>
        <p:nvSpPr>
          <p:cNvPr id="58" name="TextBox 58">
            <a:hlinkClick r:id="rId7"/>
          </p:cNvPr>
          <p:cNvSpPr txBox="1"/>
          <p:nvPr/>
        </p:nvSpPr>
        <p:spPr>
          <a:xfrm>
            <a:off x="1619560" y="11440144"/>
            <a:ext cx="2592271" cy="1690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93"/>
              </a:lnSpc>
            </a:pPr>
            <a:r>
              <a:rPr lang="en-US" sz="1125" b="1" dirty="0">
                <a:solidFill>
                  <a:srgbClr val="0000FF"/>
                </a:solidFill>
                <a:latin typeface="Times New Roman Bold"/>
                <a:ea typeface="Times New Roman Bold"/>
                <a:cs typeface="Times New Roman Bold"/>
                <a:sym typeface="Times New Roman Bold"/>
                <a:hlinkClick r:id="rId8"/>
              </a:rPr>
              <a:t>www.seha.sa/#/inquiries/slenquiry</a:t>
            </a:r>
            <a:endParaRPr lang="en-US" sz="1125" b="1" dirty="0">
              <a:solidFill>
                <a:srgbClr val="0000FF"/>
              </a:solidFill>
              <a:latin typeface="Times New Roman Bold"/>
              <a:ea typeface="Times New Roman Bold"/>
              <a:cs typeface="Times New Roman Bold"/>
              <a:sym typeface="Times New Roman Bold"/>
              <a:hlinkClick r:id="rId9" tooltip="https://iVBORw0KGgoAAAANSUhEUgAAAuQAAALkAQAAAABv3x3IAAACYElEQVR4nO3aQZKjMAwFUN+A+98yN/BUzYAly04qi55N+2lBAbae2P2CpPX/WK9Gp9PpdDqdTqfT6XQ6nU6n0+l0Op1Op9Ppv1Fvta773r16/Wt4Fq4PbXQ6nU6n09P9PvfnhlSf2+h0Op1OP16/+65xuR7+jij5XdrodDqdTqdv9bhsbRvxdDqdTqfTv9QjofOWi06n0+l0+jf6fljbBPb6O+6i0Ol0Op1+sl5qSugPh7WNTqfT6fTj9V1Ff1y+Deyl6HQ6nU4/WY8vytOfinMal38bv+azMpFOp9Pp9JP1nnN5OfTx5htJHnofEU+n0+l0On3o0XUNruU5+bJvtnQ6nU6n0+kVzgvxIrzkctp8A3Q6nU6n09/tfWK6vAOXYF8Cm06n0+n0w/UMPzEdl1l6Zpdhywg6nU6n08/Vy5zg7pr0GLHrpdPpdDqdPt58373bttxaOnZFp9PpdDo9v+/uzHhX3sHfpDadTqfT6Yfo+eyBMzLFeV59htHpdDqdTt/unS5jSz6LhamNTqfT6fTj9X1XcKUy0spT0Ol0Op1+vB4xnftfo6tEcl82l1U6nU6n00/Wd5XnrPdypq9ndDqdTqefrLdaV92b7i2Hp/Jz0Ol0Op1+sn7lpei64am/zM4j8vPQ6XQ6nX60HjvubfGD7PSpuWR1GUun0+l0On2jt02VEM/pTqfT6XQ6/YMeWZ1TO0Zco5dOp9PpdPpXX5nLxDbXPbaPR4mi0+l0Ov1kvVSO3xZwIHlsmUOn0+l0+uH6zxedTqfT6XQ6nU6n0+l0Op1Op9PpdDqdTqf/Iv0P+tt93VO+3TQAAAAASUVORK5CYII="/>
            </a:endParaRPr>
          </a:p>
        </p:txBody>
      </p:sp>
      <p:sp>
        <p:nvSpPr>
          <p:cNvPr id="59" name="TextBox 59"/>
          <p:cNvSpPr txBox="1"/>
          <p:nvPr/>
        </p:nvSpPr>
        <p:spPr>
          <a:xfrm>
            <a:off x="2878198" y="11381232"/>
            <a:ext cx="36433" cy="1667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93"/>
              </a:lnSpc>
            </a:pPr>
            <a:r>
              <a:rPr lang="en-US" sz="1125">
                <a:solidFill>
                  <a:srgbClr val="000000"/>
                </a:solidFill>
                <a:latin typeface="Noto Sans" panose="020B0502040504020204" pitchFamily="34" charset="0"/>
                <a:ea typeface="Noto Sans" panose="020B0502040504020204" pitchFamily="34" charset="0"/>
                <a:cs typeface="Arab Times"/>
                <a:sym typeface="Arab Times"/>
              </a:rPr>
              <a:t> 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5521328" y="10628364"/>
            <a:ext cx="5170672" cy="230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</a:pPr>
            <a:r>
              <a:rPr lang="en-US" sz="1280" b="1" dirty="0">
                <a:solidFill>
                  <a:srgbClr val="000000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</a:rPr>
              <a:t>{{HOSPITAL_NAME_AR}}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5530853" y="11208210"/>
            <a:ext cx="5161147" cy="230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rtl="1">
              <a:lnSpc>
                <a:spcPts val="1784"/>
              </a:lnSpc>
            </a:pPr>
            <a:r>
              <a:rPr lang="ar-EG" sz="1280" b="1" dirty="0">
                <a:solidFill>
                  <a:srgbClr val="000000"/>
                </a:solidFill>
                <a:latin typeface="Noto Sans Arabic" pitchFamily="2" charset="-78"/>
                <a:ea typeface="Tahoma" panose="020B0604030504040204" pitchFamily="34" charset="0"/>
                <a:cs typeface="Noto Sans Arabic" pitchFamily="2" charset="-78"/>
                <a:sym typeface="Noto Sans Arabic Bold"/>
                <a:rtl/>
              </a:rPr>
              <a:t>رقم الترخيص </a:t>
            </a:r>
            <a:r>
              <a:rPr lang="ar-EG" sz="1280" b="1" dirty="0">
                <a:solidFill>
                  <a:srgbClr val="000000"/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  <a:sym typeface="Noto Sans Arabic Bold"/>
                <a:rtl/>
              </a:rPr>
              <a:t>: </a:t>
            </a:r>
            <a:r>
              <a:rPr lang="en-US" sz="1280" b="1" dirty="0">
                <a:solidFill>
                  <a:srgbClr val="000000"/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  <a:sym typeface="Noto Sans Arabic Bold"/>
              </a:rPr>
              <a:t>1410101201200270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4291884" y="2541382"/>
            <a:ext cx="2255358" cy="3062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13"/>
              </a:lnSpc>
            </a:pPr>
            <a:r>
              <a:rPr lang="en-US" sz="1867" b="1" dirty="0">
                <a:solidFill>
                  <a:srgbClr val="2C3E77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Sick Leave Report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476250" y="12076414"/>
            <a:ext cx="2913563" cy="298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41"/>
              </a:lnSpc>
            </a:pPr>
            <a:r>
              <a:rPr lang="en-US" sz="128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{{PRINT_DATE}}</a:t>
            </a:r>
          </a:p>
        </p:txBody>
      </p:sp>
      <p:sp>
        <p:nvSpPr>
          <p:cNvPr id="64" name="Freeform 64"/>
          <p:cNvSpPr/>
          <p:nvPr/>
        </p:nvSpPr>
        <p:spPr>
          <a:xfrm>
            <a:off x="7475112" y="9291757"/>
            <a:ext cx="1343147" cy="1217227"/>
          </a:xfrm>
          <a:custGeom>
            <a:avLst/>
            <a:gdLst/>
            <a:ahLst/>
            <a:cxnLst/>
            <a:rect l="l" t="t" r="r" b="b"/>
            <a:pathLst>
              <a:path w="1343147" h="1217227">
                <a:moveTo>
                  <a:pt x="0" y="0"/>
                </a:moveTo>
                <a:lnTo>
                  <a:pt x="1343146" y="0"/>
                </a:lnTo>
                <a:lnTo>
                  <a:pt x="1343146" y="1217226"/>
                </a:lnTo>
                <a:lnTo>
                  <a:pt x="0" y="121722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77" name="TextBox 77"/>
          <p:cNvSpPr txBox="1"/>
          <p:nvPr/>
        </p:nvSpPr>
        <p:spPr>
          <a:xfrm>
            <a:off x="5530853" y="10909300"/>
            <a:ext cx="5170672" cy="2152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</a:pPr>
            <a:r>
              <a:rPr lang="en-US" sz="128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{{HOSPITAL_NAME_EN}}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476250" y="11771138"/>
            <a:ext cx="2913563" cy="298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41"/>
              </a:lnSpc>
            </a:pPr>
            <a:r>
              <a:rPr lang="en-US" sz="1280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{{PRINT_TIME}}</a:t>
            </a:r>
          </a:p>
        </p:txBody>
      </p:sp>
      <p:sp>
        <p:nvSpPr>
          <p:cNvPr id="79" name="مستطيل 78">
            <a:hlinkClick r:id="rId7"/>
            <a:extLst>
              <a:ext uri="{FF2B5EF4-FFF2-40B4-BE49-F238E27FC236}">
                <a16:creationId xmlns:a16="http://schemas.microsoft.com/office/drawing/2014/main" id="{043D9FDE-DD0D-4AB6-8E8A-186912F0563B}"/>
              </a:ext>
            </a:extLst>
          </p:cNvPr>
          <p:cNvSpPr/>
          <p:nvPr/>
        </p:nvSpPr>
        <p:spPr>
          <a:xfrm>
            <a:off x="1601112" y="11418204"/>
            <a:ext cx="2690772" cy="18767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ar-SA"/>
          </a:p>
        </p:txBody>
      </p:sp>
      <p:graphicFrame>
        <p:nvGraphicFramePr>
          <p:cNvPr id="33" name="جدول 93">
            <a:extLst>
              <a:ext uri="{FF2B5EF4-FFF2-40B4-BE49-F238E27FC236}">
                <a16:creationId xmlns:a16="http://schemas.microsoft.com/office/drawing/2014/main" id="{C20EBA4C-2877-4429-A76B-863B3C5D2B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5537020"/>
              </p:ext>
            </p:extLst>
          </p:nvPr>
        </p:nvGraphicFramePr>
        <p:xfrm>
          <a:off x="462198" y="3004362"/>
          <a:ext cx="9761302" cy="6126430"/>
        </p:xfrm>
        <a:graphic>
          <a:graphicData uri="http://schemas.openxmlformats.org/drawingml/2006/table">
            <a:tbl>
              <a:tblPr rtl="1" firstRow="1" bandRow="1">
                <a:tableStyleId>{5C22544A-7EE6-4342-B048-85BDC9FD1C3A}</a:tableStyleId>
              </a:tblPr>
              <a:tblGrid>
                <a:gridCol w="1656889">
                  <a:extLst>
                    <a:ext uri="{9D8B030D-6E8A-4147-A177-3AD203B41FA5}">
                      <a16:colId xmlns:a16="http://schemas.microsoft.com/office/drawing/2014/main" val="3385489692"/>
                    </a:ext>
                  </a:extLst>
                </a:gridCol>
                <a:gridCol w="3015727">
                  <a:extLst>
                    <a:ext uri="{9D8B030D-6E8A-4147-A177-3AD203B41FA5}">
                      <a16:colId xmlns:a16="http://schemas.microsoft.com/office/drawing/2014/main" val="2008743945"/>
                    </a:ext>
                  </a:extLst>
                </a:gridCol>
                <a:gridCol w="3028336">
                  <a:extLst>
                    <a:ext uri="{9D8B030D-6E8A-4147-A177-3AD203B41FA5}">
                      <a16:colId xmlns:a16="http://schemas.microsoft.com/office/drawing/2014/main" val="724222822"/>
                    </a:ext>
                  </a:extLst>
                </a:gridCol>
                <a:gridCol w="2060350">
                  <a:extLst>
                    <a:ext uri="{9D8B030D-6E8A-4147-A177-3AD203B41FA5}">
                      <a16:colId xmlns:a16="http://schemas.microsoft.com/office/drawing/2014/main" val="1611118799"/>
                    </a:ext>
                  </a:extLst>
                </a:gridCol>
              </a:tblGrid>
              <a:tr h="567226">
                <a:tc>
                  <a:txBody>
                    <a:bodyPr/>
                    <a:lstStyle/>
                    <a:p>
                      <a:pPr algn="ctr" rtl="1"/>
                      <a:r>
                        <a:rPr lang="ar-SA" sz="1350" b="1" i="0" baseline="0" dirty="0">
                          <a:solidFill>
                            <a:srgbClr val="366FB5"/>
                          </a:solidFill>
                          <a:latin typeface="Noto Sans Arabic" pitchFamily="2" charset="-78"/>
                          <a:cs typeface="Noto Sans Arabic" pitchFamily="2" charset="-78"/>
                        </a:rPr>
                        <a:t>رمز </a:t>
                      </a:r>
                      <a:r>
                        <a:rPr lang="ar-SA" sz="1350" b="1" i="0" baseline="0" dirty="0" err="1">
                          <a:solidFill>
                            <a:srgbClr val="366FB5"/>
                          </a:solidFill>
                          <a:latin typeface="Noto Sans Arabic" pitchFamily="2" charset="-78"/>
                          <a:cs typeface="Noto Sans Arabic" pitchFamily="2" charset="-78"/>
                        </a:rPr>
                        <a:t>اللإجازة</a:t>
                      </a:r>
                      <a:endParaRPr lang="ar-SA" sz="1350" b="1" i="0" baseline="0" dirty="0">
                        <a:solidFill>
                          <a:srgbClr val="366FB5"/>
                        </a:solidFill>
                        <a:latin typeface="Noto Sans Arabic" pitchFamily="2" charset="-78"/>
                        <a:cs typeface="Noto Sans Arabic" pitchFamily="2" charset="-78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1"/>
                      <a:r>
                        <a:rPr lang="en-US" sz="1350" b="0" i="0" baseline="0" dirty="0">
                          <a:solidFill>
                            <a:srgbClr val="2C3E77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{{SERVICE_CODE}}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rtl="1"/>
                      <a:endParaRPr lang="ar-SA" dirty="0"/>
                    </a:p>
                  </a:txBody>
                  <a:tcPr anchor="ctr">
                    <a:lnL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en-US" sz="1350" b="1" i="0" baseline="0" dirty="0">
                          <a:solidFill>
                            <a:srgbClr val="366FB5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Leave ID</a:t>
                      </a:r>
                      <a:endParaRPr lang="ar-SA" sz="1350" b="1" i="0" baseline="0" dirty="0">
                        <a:solidFill>
                          <a:srgbClr val="366FB5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0652001"/>
                  </a:ext>
                </a:extLst>
              </a:tr>
              <a:tr h="521208">
                <a:tc>
                  <a:txBody>
                    <a:bodyPr/>
                    <a:lstStyle/>
                    <a:p>
                      <a:pPr algn="ctr" rtl="1"/>
                      <a:r>
                        <a:rPr lang="ar-SA" sz="1350" b="1" i="0" baseline="0" dirty="0">
                          <a:solidFill>
                            <a:schemeClr val="bg1"/>
                          </a:solidFill>
                          <a:latin typeface="Noto Sans Arabic" pitchFamily="2" charset="-78"/>
                          <a:cs typeface="Noto Sans Arabic" pitchFamily="2" charset="-78"/>
                        </a:rPr>
                        <a:t>مدة الإجازة</a:t>
                      </a: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7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en-US" sz="1400" dirty="0">
                          <a:solidFill>
                            <a:schemeClr val="bg1"/>
                          </a:solidFill>
                          <a:cs typeface="+mj-cs"/>
                        </a:rPr>
                        <a:t>{{DAYS_COUNT}}</a:t>
                      </a:r>
                      <a:r>
                        <a:rPr lang="ar-SA" sz="1400" dirty="0">
                          <a:solidFill>
                            <a:schemeClr val="bg1"/>
                          </a:solidFill>
                          <a:cs typeface="+mj-cs"/>
                        </a:rPr>
                        <a:t> </a:t>
                      </a:r>
                      <a:r>
                        <a:rPr lang="ar-SA" sz="1350" baseline="0" dirty="0">
                          <a:solidFill>
                            <a:schemeClr val="bg1"/>
                          </a:solidFill>
                          <a:latin typeface="Noto Sans Arabic" pitchFamily="2" charset="-78"/>
                          <a:ea typeface="Noto Sans Arabic" pitchFamily="2" charset="-78"/>
                          <a:cs typeface="Noto Sans Arabic" pitchFamily="2" charset="-78"/>
                        </a:rPr>
                        <a:t>يوم</a:t>
                      </a:r>
                      <a:r>
                        <a:rPr lang="ar-SA" sz="1400" dirty="0">
                          <a:solidFill>
                            <a:schemeClr val="bg1"/>
                          </a:solidFill>
                          <a:cs typeface="+mj-cs"/>
                        </a:rPr>
                        <a:t> </a:t>
                      </a:r>
                      <a:r>
                        <a:rPr lang="ar-SA" sz="1350" baseline="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</a:t>
                      </a:r>
                      <a:r>
                        <a:rPr lang="en-US" sz="1350" baseline="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{{ENTRY_DATE_HIJRI}}</a:t>
                      </a:r>
                    </a:p>
                    <a:p>
                      <a:pPr algn="ctr" rtl="1"/>
                      <a:r>
                        <a:rPr lang="ar-SA" sz="1350" baseline="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ar-SA" sz="1350" baseline="0" dirty="0">
                          <a:solidFill>
                            <a:schemeClr val="bg1"/>
                          </a:solidFill>
                          <a:latin typeface="Noto Sans Arabic" pitchFamily="2" charset="-78"/>
                          <a:ea typeface="Noto Sans Arabic" pitchFamily="2" charset="-78"/>
                          <a:cs typeface="Noto Sans Arabic" pitchFamily="2" charset="-78"/>
                        </a:rPr>
                        <a:t>الى</a:t>
                      </a:r>
                      <a:r>
                        <a:rPr lang="ar-SA" sz="1400" dirty="0">
                          <a:solidFill>
                            <a:schemeClr val="bg1"/>
                          </a:solidFill>
                          <a:cs typeface="+mj-cs"/>
                        </a:rPr>
                        <a:t> </a:t>
                      </a:r>
                      <a:r>
                        <a:rPr lang="en-US" sz="1350" baseline="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{{EXIT_DATE_HIJRI}}</a:t>
                      </a:r>
                      <a:r>
                        <a:rPr lang="ar-SA" sz="1350" baseline="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7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en-US" sz="1350" baseline="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{{DAYS_COUNT}} </a:t>
                      </a:r>
                      <a:r>
                        <a:rPr lang="en-US" sz="1350" baseline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day ( {{</a:t>
                      </a:r>
                      <a:r>
                        <a:rPr lang="en-US" sz="1350" baseline="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ENTRY_DATE_GREGORIAN}}</a:t>
                      </a:r>
                    </a:p>
                    <a:p>
                      <a:pPr algn="ctr" rtl="1"/>
                      <a:r>
                        <a:rPr lang="en-US" sz="1350" baseline="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to {{EXIT_DATE_GREGORIAN}} )</a:t>
                      </a:r>
                      <a:endParaRPr lang="ar-SA" sz="1350" baseline="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7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en-US" sz="1350" b="1" i="0" baseline="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+mj-cs"/>
                        </a:rPr>
                        <a:t>Leave Duration</a:t>
                      </a:r>
                      <a:endParaRPr lang="ar-SA" sz="1350" b="1" i="0" baseline="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+mj-cs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7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3318265"/>
                  </a:ext>
                </a:extLst>
              </a:tr>
              <a:tr h="521208">
                <a:tc>
                  <a:txBody>
                    <a:bodyPr/>
                    <a:lstStyle/>
                    <a:p>
                      <a:pPr algn="ctr" rtl="1"/>
                      <a:r>
                        <a:rPr lang="ar-SA" sz="1350" b="1" i="0" baseline="0" dirty="0">
                          <a:solidFill>
                            <a:srgbClr val="366FB5"/>
                          </a:solidFill>
                          <a:latin typeface="Noto Sans Arabic" pitchFamily="2" charset="-78"/>
                          <a:cs typeface="Noto Sans Arabic" pitchFamily="2" charset="-78"/>
                        </a:rPr>
                        <a:t>تاريخ الدخول</a:t>
                      </a: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en-US" sz="1350" baseline="0" dirty="0">
                          <a:solidFill>
                            <a:srgbClr val="2C3E77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{{ENTRY_DATE_HIJRI}}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en-US" sz="1350" baseline="0" dirty="0">
                          <a:solidFill>
                            <a:srgbClr val="2C3E77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{{ENTRY_DATE_GREGORIAN}}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en-US" sz="1350" b="1" i="0" baseline="0" dirty="0">
                          <a:solidFill>
                            <a:srgbClr val="366FB5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Admission Date</a:t>
                      </a:r>
                      <a:endParaRPr lang="ar-SA" sz="1350" b="1" i="0" baseline="0" dirty="0">
                        <a:solidFill>
                          <a:srgbClr val="366FB5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430033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ctr" rtl="1"/>
                      <a:r>
                        <a:rPr lang="ar-SA" sz="1350" b="1" i="0" baseline="0" dirty="0">
                          <a:solidFill>
                            <a:srgbClr val="366FB5"/>
                          </a:solidFill>
                          <a:latin typeface="Noto Sans Arabic" pitchFamily="2" charset="-78"/>
                          <a:cs typeface="Noto Sans Arabic" pitchFamily="2" charset="-78"/>
                        </a:rPr>
                        <a:t>تاريخ الخروج</a:t>
                      </a: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en-US" sz="1350" baseline="0" dirty="0">
                          <a:solidFill>
                            <a:srgbClr val="2C3E77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{{EXIT_DATE_HIJRI}}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en-US" sz="1350" baseline="0" dirty="0">
                          <a:solidFill>
                            <a:srgbClr val="2C3E77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{{EXIT_DATE_GREGORIAN}}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en-US" sz="1350" b="1" i="0" baseline="0" dirty="0">
                          <a:solidFill>
                            <a:srgbClr val="366FB5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Discharge Date</a:t>
                      </a:r>
                      <a:endParaRPr lang="ar-SA" sz="1350" b="1" i="0" baseline="0" dirty="0">
                        <a:solidFill>
                          <a:srgbClr val="366FB5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2191690"/>
                  </a:ext>
                </a:extLst>
              </a:tr>
              <a:tr h="539496">
                <a:tc>
                  <a:txBody>
                    <a:bodyPr/>
                    <a:lstStyle/>
                    <a:p>
                      <a:pPr algn="ctr" rtl="1"/>
                      <a:r>
                        <a:rPr lang="ar-SA" sz="1350" b="1" i="0" baseline="0" dirty="0">
                          <a:solidFill>
                            <a:srgbClr val="366FB5"/>
                          </a:solidFill>
                          <a:latin typeface="Noto Sans Arabic" pitchFamily="2" charset="-78"/>
                          <a:cs typeface="Noto Sans Arabic" pitchFamily="2" charset="-78"/>
                        </a:rPr>
                        <a:t>تاريخ إصدار التقرير</a:t>
                      </a: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indent="0" algn="ctr" rtl="1"/>
                      <a:r>
                        <a:rPr lang="en-US" sz="1350" baseline="0" dirty="0">
                          <a:solidFill>
                            <a:srgbClr val="2C3E77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{{REPORT_ISSUE_DATE}}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rtl="1"/>
                      <a:endParaRPr lang="ar-SA" dirty="0">
                        <a:solidFill>
                          <a:srgbClr val="306DB5"/>
                        </a:solidFill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en-US" sz="1350" b="1" i="0" baseline="0" dirty="0">
                          <a:solidFill>
                            <a:srgbClr val="366FB5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Issue Date</a:t>
                      </a:r>
                      <a:endParaRPr lang="ar-SA" sz="1350" b="1" i="0" baseline="0" dirty="0">
                        <a:solidFill>
                          <a:srgbClr val="366FB5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9820155"/>
                  </a:ext>
                </a:extLst>
              </a:tr>
              <a:tr h="543132">
                <a:tc>
                  <a:txBody>
                    <a:bodyPr/>
                    <a:lstStyle/>
                    <a:p>
                      <a:pPr algn="ctr" rtl="1"/>
                      <a:r>
                        <a:rPr lang="ar-SA" sz="1350" b="1" i="0" baseline="0" dirty="0">
                          <a:solidFill>
                            <a:srgbClr val="366FB5"/>
                          </a:solidFill>
                          <a:latin typeface="Noto Sans Arabic" pitchFamily="2" charset="-78"/>
                          <a:cs typeface="Noto Sans Arabic" pitchFamily="2" charset="-78"/>
                        </a:rPr>
                        <a:t>الاسم</a:t>
                      </a: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en-US" sz="1350" baseline="0" dirty="0">
                          <a:solidFill>
                            <a:srgbClr val="2C3E77"/>
                          </a:solidFill>
                          <a:latin typeface="Noto Sans Arabic" pitchFamily="2" charset="-78"/>
                          <a:cs typeface="Noto Sans Arabic" pitchFamily="2" charset="-78"/>
                        </a:rPr>
                        <a:t>{{NAME_AR}}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en-US" sz="1350" baseline="0" dirty="0">
                          <a:solidFill>
                            <a:srgbClr val="2C3E77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{{NAME_EN}}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en-US" sz="1350" b="1" i="0" baseline="0" dirty="0">
                          <a:solidFill>
                            <a:srgbClr val="366FB5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Name</a:t>
                      </a:r>
                      <a:endParaRPr lang="ar-SA" sz="1350" b="1" i="0" baseline="0" dirty="0">
                        <a:solidFill>
                          <a:srgbClr val="366FB5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81791"/>
                  </a:ext>
                </a:extLst>
              </a:tr>
              <a:tr h="543132">
                <a:tc>
                  <a:txBody>
                    <a:bodyPr/>
                    <a:lstStyle/>
                    <a:p>
                      <a:pPr algn="ctr" rtl="1"/>
                      <a:r>
                        <a:rPr lang="ar-SA" sz="1350" b="1" i="0" baseline="0" dirty="0">
                          <a:solidFill>
                            <a:srgbClr val="366FB5"/>
                          </a:solidFill>
                          <a:latin typeface="Noto Sans Arabic" pitchFamily="2" charset="-78"/>
                          <a:cs typeface="Noto Sans Arabic" pitchFamily="2" charset="-78"/>
                        </a:rPr>
                        <a:t>رقم الهوية / الإقامة</a:t>
                      </a: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1"/>
                      <a:r>
                        <a:rPr lang="en-US" sz="1350" baseline="0" dirty="0">
                          <a:solidFill>
                            <a:srgbClr val="2C3E77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{{ID_NUMBER}}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rtl="1"/>
                      <a:endParaRPr lang="ar-SA" sz="1350" baseline="0" dirty="0">
                        <a:solidFill>
                          <a:srgbClr val="2C3E77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en-US" sz="1350" b="1" i="0" baseline="0" dirty="0">
                          <a:solidFill>
                            <a:srgbClr val="366FB5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National ID / Iqama</a:t>
                      </a:r>
                      <a:endParaRPr lang="ar-SA" sz="1350" b="1" i="0" baseline="0" dirty="0">
                        <a:solidFill>
                          <a:srgbClr val="366FB5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812357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ctr" rtl="1"/>
                      <a:r>
                        <a:rPr lang="ar-SA" sz="1350" b="1" i="0" baseline="0" dirty="0">
                          <a:solidFill>
                            <a:srgbClr val="366FB5"/>
                          </a:solidFill>
                          <a:latin typeface="Noto Sans Arabic" pitchFamily="2" charset="-78"/>
                          <a:cs typeface="Noto Sans Arabic" pitchFamily="2" charset="-78"/>
                        </a:rPr>
                        <a:t>الجنسية</a:t>
                      </a: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en-US" sz="1350" baseline="0" dirty="0">
                          <a:solidFill>
                            <a:srgbClr val="2C3E77"/>
                          </a:solidFill>
                          <a:latin typeface="Noto Sans Arabic" pitchFamily="2" charset="-78"/>
                          <a:cs typeface="Noto Sans Arabic" pitchFamily="2" charset="-78"/>
                        </a:rPr>
                        <a:t>{{NATIONALITY_AR}}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en-US" sz="1350" baseline="0" dirty="0">
                          <a:solidFill>
                            <a:srgbClr val="2C3E77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{{NATIONALITY_EN}}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en-US" sz="1350" b="1" i="0" baseline="0" dirty="0">
                          <a:solidFill>
                            <a:srgbClr val="366FB5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Nationality</a:t>
                      </a:r>
                      <a:endParaRPr lang="ar-SA" sz="1350" b="1" i="0" baseline="0" dirty="0">
                        <a:solidFill>
                          <a:srgbClr val="366FB5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009399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ctr" rtl="1"/>
                      <a:r>
                        <a:rPr lang="ar-SA" sz="1350" b="1" i="0" baseline="0" dirty="0">
                          <a:solidFill>
                            <a:srgbClr val="366FB5"/>
                          </a:solidFill>
                          <a:latin typeface="Noto Sans Arabic" pitchFamily="2" charset="-78"/>
                          <a:cs typeface="Noto Sans Arabic" pitchFamily="2" charset="-78"/>
                        </a:rPr>
                        <a:t>جهة العمل</a:t>
                      </a: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ar-SA" sz="1350" baseline="0" dirty="0">
                          <a:solidFill>
                            <a:srgbClr val="2C3E77"/>
                          </a:solidFill>
                          <a:latin typeface="Noto Sans Arabic" pitchFamily="2" charset="-78"/>
                          <a:cs typeface="Noto Sans Arabic" pitchFamily="2" charset="-78"/>
                        </a:rPr>
                        <a:t>الابتدائية الثانية </a:t>
                      </a:r>
                      <a:r>
                        <a:rPr lang="ar-SA" sz="1350" baseline="0" dirty="0" err="1">
                          <a:solidFill>
                            <a:srgbClr val="2C3E77"/>
                          </a:solidFill>
                          <a:latin typeface="Noto Sans Arabic" pitchFamily="2" charset="-78"/>
                          <a:cs typeface="Noto Sans Arabic" pitchFamily="2" charset="-78"/>
                        </a:rPr>
                        <a:t>بالخارش</a:t>
                      </a:r>
                      <a:endParaRPr lang="ar-SA" sz="1350" baseline="0" dirty="0">
                        <a:solidFill>
                          <a:srgbClr val="2C3E77"/>
                        </a:solidFill>
                        <a:latin typeface="Noto Sans Arabic" pitchFamily="2" charset="-78"/>
                        <a:cs typeface="Noto Sans Arabic" pitchFamily="2" charset="-78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endParaRPr lang="ar-SA" sz="1350" baseline="0" dirty="0">
                        <a:solidFill>
                          <a:srgbClr val="2C3E77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en-US" sz="1350" b="1" i="0" baseline="0" dirty="0">
                          <a:solidFill>
                            <a:srgbClr val="366FB5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Employer</a:t>
                      </a:r>
                      <a:endParaRPr lang="ar-SA" sz="1350" b="1" i="0" baseline="0" dirty="0">
                        <a:solidFill>
                          <a:srgbClr val="366FB5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338421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 rtl="1"/>
                      <a:r>
                        <a:rPr lang="ar-SA" sz="1350" b="1" i="0" baseline="0" dirty="0">
                          <a:solidFill>
                            <a:srgbClr val="366FB5"/>
                          </a:solidFill>
                          <a:latin typeface="Noto Sans Arabic" pitchFamily="2" charset="-78"/>
                          <a:cs typeface="Noto Sans Arabic" pitchFamily="2" charset="-78"/>
                        </a:rPr>
                        <a:t>اسم الممارس</a:t>
                      </a: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en-US" sz="1350" baseline="0" dirty="0">
                          <a:solidFill>
                            <a:srgbClr val="2C3E77"/>
                          </a:solidFill>
                          <a:latin typeface="Noto Sans Arabic" pitchFamily="2" charset="-78"/>
                          <a:cs typeface="Noto Sans Arabic" pitchFamily="2" charset="-78"/>
                        </a:rPr>
                        <a:t>{{DOCTOR_NAME_AR}}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en-US" sz="1350" baseline="0" dirty="0">
                          <a:solidFill>
                            <a:srgbClr val="2C3E77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{{DOCTOR_NAME_EN}}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en-US" sz="1350" b="1" i="0" baseline="0" dirty="0">
                          <a:solidFill>
                            <a:srgbClr val="366FB5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Practitioner Name</a:t>
                      </a:r>
                      <a:endParaRPr lang="ar-SA" sz="1350" b="1" i="0" baseline="0" dirty="0">
                        <a:solidFill>
                          <a:srgbClr val="366FB5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7725446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algn="ctr" rtl="1"/>
                      <a:r>
                        <a:rPr lang="ar-SA" sz="1350" b="1" i="0" baseline="0" dirty="0">
                          <a:solidFill>
                            <a:srgbClr val="366FB5"/>
                          </a:solidFill>
                          <a:latin typeface="Noto Sans Arabic" pitchFamily="2" charset="-78"/>
                          <a:cs typeface="Noto Sans Arabic" pitchFamily="2" charset="-78"/>
                        </a:rPr>
                        <a:t>المسمى الوظيفي</a:t>
                      </a: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en-US" sz="1350" baseline="0" dirty="0">
                          <a:solidFill>
                            <a:srgbClr val="2C3E77"/>
                          </a:solidFill>
                          <a:latin typeface="Noto Sans Arabic" pitchFamily="2" charset="-78"/>
                          <a:cs typeface="Noto Sans Arabic" pitchFamily="2" charset="-78"/>
                        </a:rPr>
                        <a:t>{{JOB_TITLE_AR}}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en-US" sz="1350" baseline="0" dirty="0">
                          <a:solidFill>
                            <a:srgbClr val="2C3E77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{{JOB_TITLE_EN}}</a:t>
                      </a:r>
                    </a:p>
                  </a:txBody>
                  <a:tcPr anchor="ctr">
                    <a:lnL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en-US" sz="1350" b="1" i="0" baseline="0" dirty="0">
                          <a:solidFill>
                            <a:srgbClr val="366FB5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Position</a:t>
                      </a:r>
                      <a:endParaRPr lang="ar-SA" sz="1350" b="1" i="0" baseline="0" dirty="0">
                        <a:solidFill>
                          <a:srgbClr val="366FB5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1270772"/>
                  </a:ext>
                </a:extLst>
              </a:tr>
            </a:tbl>
          </a:graphicData>
        </a:graphic>
      </p:graphicFrame>
      <p:sp>
        <p:nvSpPr>
          <p:cNvPr id="94" name="مستطيل: زوايا مستديرة 93">
            <a:extLst>
              <a:ext uri="{FF2B5EF4-FFF2-40B4-BE49-F238E27FC236}">
                <a16:creationId xmlns:a16="http://schemas.microsoft.com/office/drawing/2014/main" id="{75B0C702-D39B-4B7A-B845-490BEA8CAD8D}"/>
              </a:ext>
            </a:extLst>
          </p:cNvPr>
          <p:cNvSpPr/>
          <p:nvPr/>
        </p:nvSpPr>
        <p:spPr>
          <a:xfrm>
            <a:off x="462198" y="3015816"/>
            <a:ext cx="9761302" cy="5912284"/>
          </a:xfrm>
          <a:prstGeom prst="roundRect">
            <a:avLst>
              <a:gd name="adj" fmla="val 2504"/>
            </a:avLst>
          </a:prstGeom>
          <a:noFill/>
          <a:ln w="19050">
            <a:solidFill>
              <a:srgbClr val="E0E0E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ar-SA"/>
          </a:p>
        </p:txBody>
      </p:sp>
      <p:sp>
        <p:nvSpPr>
          <p:cNvPr id="95" name="مربع نص 94">
            <a:extLst>
              <a:ext uri="{FF2B5EF4-FFF2-40B4-BE49-F238E27FC236}">
                <a16:creationId xmlns:a16="http://schemas.microsoft.com/office/drawing/2014/main" id="{7A41E05C-07C7-4FFA-AD5C-4D2FDD37F29D}"/>
              </a:ext>
            </a:extLst>
          </p:cNvPr>
          <p:cNvSpPr txBox="1"/>
          <p:nvPr/>
        </p:nvSpPr>
        <p:spPr>
          <a:xfrm>
            <a:off x="1196872" y="11141102"/>
            <a:ext cx="3540582" cy="264688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112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check the report please visit </a:t>
            </a:r>
            <a:r>
              <a:rPr lang="en-US" sz="112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Seha's</a:t>
            </a:r>
            <a:r>
              <a:rPr lang="en-US" sz="112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12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offical</a:t>
            </a:r>
            <a:r>
              <a:rPr lang="en-US" sz="112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website</a:t>
            </a:r>
            <a:endParaRPr lang="ar-SA" sz="112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215</TotalTime>
  <Words>262</Words>
  <Application>Microsoft Office PowerPoint</Application>
  <PresentationFormat>مخصص</PresentationFormat>
  <Paragraphs>56</Paragraphs>
  <Slides>1</Slides>
  <Notes>0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7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</vt:i4>
      </vt:variant>
    </vt:vector>
  </HeadingPairs>
  <TitlesOfParts>
    <vt:vector size="9" baseType="lpstr">
      <vt:lpstr>Noto Sans Arabic</vt:lpstr>
      <vt:lpstr>Arial</vt:lpstr>
      <vt:lpstr>Times New Roman</vt:lpstr>
      <vt:lpstr>Open Sans</vt:lpstr>
      <vt:lpstr>Calibri</vt:lpstr>
      <vt:lpstr>Noto Sans</vt:lpstr>
      <vt:lpstr>Times New Roman Bold</vt:lpstr>
      <vt:lpstr>Office Theme</vt:lpstr>
      <vt:lpstr>عرض تقديمي في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نسخة من sickLeaves-11.pdf</dc:title>
  <dc:creator>Dell</dc:creator>
  <cp:lastModifiedBy>Amjad Alsabry</cp:lastModifiedBy>
  <cp:revision>34</cp:revision>
  <dcterms:created xsi:type="dcterms:W3CDTF">2006-08-16T00:00:00Z</dcterms:created>
  <dcterms:modified xsi:type="dcterms:W3CDTF">2026-04-28T21:12:15Z</dcterms:modified>
  <dc:identifier>DAG9MLGmOeo</dc:identifier>
</cp:coreProperties>
</file>