
<file path=[Content_Types].xml><?xml version="1.0" encoding="utf-8"?>
<Types xmlns="http://schemas.openxmlformats.org/package/2006/content-types">
  <Default ContentType="application/x-fontdata" Extension="fntdata"/>
  <Default ContentType="image/jpeg" Extension="jpeg"/>
  <Default ContentType="image/png" Extension="png"/>
  <Default ContentType="application/vnd.openxmlformats-package.relationships+xml" Extension="rels"/>
  <Default ContentType="image/svg+xml" Extension="svg"/>
  <Default ContentType="application/xml" Extension="xml"/>
  <Override ContentType="application/vnd.openxmlformats-officedocument.extended-properties+xml" PartName="/docProps/app.xml"/>
  <Override ContentType="application/vnd.openxmlformats-package.core-properties+xml" PartName="/docProps/core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11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1.xml"/>
  <Override ContentType="application/vnd.openxmlformats-officedocument.presentationml.tableStyles+xml" PartName="/ppt/tableStyles.xml"/>
  <Override ContentType="application/vnd.openxmlformats-officedocument.theme+xml" PartName="/ppt/theme/theme1.xml"/>
  <Override ContentType="application/vnd.openxmlformats-officedocument.presentationml.viewProps+xml" PartName="/ppt/viewProps.xml"/>
</Types>
</file>

<file path=_rels/.rels><?xml version="1.0" encoding="UTF-8" standalone="yes"?><Relationships xmlns="http://schemas.openxmlformats.org/package/2006/relationships"><Relationship Id="rId1" Target="ppt/presentation.xml" Type="http://schemas.openxmlformats.org/officeDocument/2006/relationships/officeDocument"/><Relationship Id="rId2" Target="docProps/thumbnail.jpeg" Type="http://schemas.openxmlformats.org/package/2006/relationships/metadata/thumbnail"/><Relationship Id="rId3" Target="docProps/core.xml" Type="http://schemas.openxmlformats.org/package/2006/relationships/metadata/core-properties"/><Relationship Id="rId4" Target="docProps/app.xml" Type="http://schemas.openxmlformats.org/officeDocument/2006/relationships/extended-properties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embedTrueTypeFonts="true">
  <p:sldMasterIdLst>
    <p:sldMasterId id="2147483648" r:id="rId1"/>
  </p:sldMasterIdLst>
  <p:sldIdLst>
    <p:sldId id="256" r:id="rId6"/>
  </p:sldIdLst>
  <p:sldSz cx="10693400" cy="15113000"/>
  <p:notesSz cx="6858000" cy="9144000"/>
  <p:embeddedFontLst>
    <p:embeddedFont>
      <p:font typeface="Open Sans" charset="1" panose="020B0606030504020204"/>
      <p:regular r:id="rId7"/>
    </p:embeddedFont>
    <p:embeddedFont>
      <p:font typeface="Arab Times" charset="1" panose="02000400000000000000"/>
      <p:regular r:id="rId8"/>
    </p:embeddedFont>
    <p:embeddedFont>
      <p:font typeface="Noto Sans Arabic Bold" charset="1" panose="020B0802040504020204"/>
      <p:regular r:id="rId9"/>
    </p:embeddedFont>
    <p:embeddedFont>
      <p:font typeface="Times New Roman Bold" charset="1" panose="02020803070505020304"/>
      <p:regular r:id="rId10"/>
    </p:embeddedFont>
    <p:embeddedFont>
      <p:font typeface="Times New Roman" charset="1" panose="02020603050405020304"/>
      <p:regular r:id="rId11"/>
    </p:embeddedFont>
    <p:embeddedFont>
      <p:font typeface="Noto Sans Arabic" charset="1" panose="020B0502040504020204"/>
      <p:regular r:id="rId12"/>
    </p:embeddedFont>
  </p:embeddedFont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 autoAdjust="0"/>
    <p:restoredTop sz="94622" autoAdjust="0"/>
  </p:normalViewPr>
  <p:slideViewPr>
    <p:cSldViewPr>
      <p:cViewPr varScale="1">
        <p:scale>
          <a:sx n="74" d="100"/>
          <a:sy n="74" d="100"/>
        </p:scale>
        <p:origin x="-1092" y="-90"/>
      </p:cViewPr>
      <p:guideLst>
        <p:guide orient="horz" pos="2160"/>
        <p:guide pos="288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<Relationships xmlns="http://schemas.openxmlformats.org/package/2006/relationships"><Relationship Id="rId1" Target="slideMasters/slideMaster1.xml" Type="http://schemas.openxmlformats.org/officeDocument/2006/relationships/slideMaster"/><Relationship Id="rId10" Target="fonts/font10.fntdata" Type="http://schemas.openxmlformats.org/officeDocument/2006/relationships/font"/><Relationship Id="rId11" Target="fonts/font11.fntdata" Type="http://schemas.openxmlformats.org/officeDocument/2006/relationships/font"/><Relationship Id="rId12" Target="fonts/font12.fntdata" Type="http://schemas.openxmlformats.org/officeDocument/2006/relationships/font"/><Relationship Id="rId2" Target="presProps.xml" Type="http://schemas.openxmlformats.org/officeDocument/2006/relationships/presProps"/><Relationship Id="rId3" Target="viewProps.xml" Type="http://schemas.openxmlformats.org/officeDocument/2006/relationships/viewProps"/><Relationship Id="rId4" Target="theme/theme1.xml" Type="http://schemas.openxmlformats.org/officeDocument/2006/relationships/theme"/><Relationship Id="rId5" Target="tableStyles.xml" Type="http://schemas.openxmlformats.org/officeDocument/2006/relationships/tableStyles"/><Relationship Id="rId6" Target="slides/slide1.xml" Type="http://schemas.openxmlformats.org/officeDocument/2006/relationships/slide"/><Relationship Id="rId7" Target="fonts/font7.fntdata" Type="http://schemas.openxmlformats.org/officeDocument/2006/relationships/font"/><Relationship Id="rId8" Target="fonts/font8.fntdata" Type="http://schemas.openxmlformats.org/officeDocument/2006/relationships/font"/><Relationship Id="rId9" Target="fonts/font9.fntdata" Type="http://schemas.openxmlformats.org/officeDocument/2006/relationships/font"/></Relationships>
</file>

<file path=ppt/slideLayouts/_rels/slideLayout1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2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3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4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5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6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7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8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9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10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11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<Relationships xmlns="http://schemas.openxmlformats.org/package/2006/relationships"><Relationship Id="rId1" Target="../slideLayouts/slideLayout1.xml" Type="http://schemas.openxmlformats.org/officeDocument/2006/relationships/slideLayout"/><Relationship Id="rId10" Target="../slideLayouts/slideLayout10.xml" Type="http://schemas.openxmlformats.org/officeDocument/2006/relationships/slideLayout"/><Relationship Id="rId11" Target="../slideLayouts/slideLayout11.xml" Type="http://schemas.openxmlformats.org/officeDocument/2006/relationships/slideLayout"/><Relationship Id="rId12" Target="../theme/theme1.xml" Type="http://schemas.openxmlformats.org/officeDocument/2006/relationships/theme"/><Relationship Id="rId2" Target="../slideLayouts/slideLayout2.xml" Type="http://schemas.openxmlformats.org/officeDocument/2006/relationships/slideLayout"/><Relationship Id="rId3" Target="../slideLayouts/slideLayout3.xml" Type="http://schemas.openxmlformats.org/officeDocument/2006/relationships/slideLayout"/><Relationship Id="rId4" Target="../slideLayouts/slideLayout4.xml" Type="http://schemas.openxmlformats.org/officeDocument/2006/relationships/slideLayout"/><Relationship Id="rId5" Target="../slideLayouts/slideLayout5.xml" Type="http://schemas.openxmlformats.org/officeDocument/2006/relationships/slideLayout"/><Relationship Id="rId6" Target="../slideLayouts/slideLayout6.xml" Type="http://schemas.openxmlformats.org/officeDocument/2006/relationships/slideLayout"/><Relationship Id="rId7" Target="../slideLayouts/slideLayout7.xml" Type="http://schemas.openxmlformats.org/officeDocument/2006/relationships/slideLayout"/><Relationship Id="rId8" Target="../slideLayouts/slideLayout8.xml" Type="http://schemas.openxmlformats.org/officeDocument/2006/relationships/slideLayout"/><Relationship Id="rId9" Target="../slideLayouts/slideLayout9.xml" Type="http://schemas.openxmlformats.org/officeDocument/2006/relationships/slideLayout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10" Target="https://iVBORw0KGgoAAAANSUhEUgAAAuQAAALkAQAAAABv3x3IAAACYElEQVR4nO3aQZKjMAwFUN+A+98yN/BUzYAly04qi55N+2lBAbae2P2CpPX/WK9Gp9PpdDqdTqfT6XQ6nU6n0+l0Op1Op9Ppv1Fvta773r16/Wt4Fq4PbXQ6nU6n09P9PvfnhlSf2+h0Op1OP16/+65xuR7+jij5XdrodDqdTqdv9bhsbRvxdDqdTqfTv9QjofOWi06n0+l0+jf6fljbBPb6O+6i0Ol0Op1+sl5qSugPh7WNTqfT6fTj9V1Ff1y+Deyl6HQ6nU4/WY8vytOfinMal38bv+azMpFOp9Pp9JP1nnN5OfTx5htJHnofEU+n0+l0On3o0XUNruU5+bJvtnQ6nU6n0+kVzgvxIrzkctp8A3Q6nU6n09/tfWK6vAOXYF8Cm06n0+n0w/UMPzEdl1l6Zpdhywg6nU6n08/Vy5zg7pr0GLHrpdPpdDqdPt58373bttxaOnZFp9PpdDo9v+/uzHhX3sHfpDadTqfT6Yfo+eyBMzLFeV59htHpdDqdTt/unS5jSz6LhamNTqfT6fTj9X1XcKUy0spT0Ol0Op1+vB4xnftfo6tEcl82l1U6nU6n00/Wd5XnrPdypq9ndDqdTqefrLdaV92b7i2Hp/Jz0Ol0Op1+sn7lpei64am/zM4j8vPQ6XQ6nX60HjvubfGD7PSpuWR1GUun0+l0On2jt02VEM/pTqfT6XQ6/YMeWZ1TO0Zco5dOp9PpdPpXX5nLxDbXPbaPR4mi0+l0Ov1kvVSO3xZwIHlsmUOn0+l0+uH6zxedTqfT6XQ6nU6n0+l0Op1Op9PpdDqdTqf/Iv0P+tt93VO+3TQAAAAASUVORK5CYII=" TargetMode="External" Type="http://schemas.openxmlformats.org/officeDocument/2006/relationships/hyperlink"/><Relationship Id="rId11" Target="../media/image8.jpeg" Type="http://schemas.openxmlformats.org/officeDocument/2006/relationships/image"/><Relationship Id="rId2" Target="../media/image1.png" Type="http://schemas.openxmlformats.org/officeDocument/2006/relationships/image"/><Relationship Id="rId3" Target="../media/image2.svg" Type="http://schemas.openxmlformats.org/officeDocument/2006/relationships/image"/><Relationship Id="rId4" Target="../media/image3.png" Type="http://schemas.openxmlformats.org/officeDocument/2006/relationships/image"/><Relationship Id="rId5" Target="../media/image4.png" Type="http://schemas.openxmlformats.org/officeDocument/2006/relationships/image"/><Relationship Id="rId6" Target="../media/image5.png" Type="http://schemas.openxmlformats.org/officeDocument/2006/relationships/image"/><Relationship Id="rId7" Target="../media/image6.jpeg" Type="http://schemas.openxmlformats.org/officeDocument/2006/relationships/image"/><Relationship Id="rId8" Target="../media/image7.png" Type="http://schemas.openxmlformats.org/officeDocument/2006/relationships/image"/><Relationship Id="rId9" Target="https://sihasa.vercel.app" TargetMode="External" Type="http://schemas.openxmlformats.org/officeDocument/2006/relationships/hyperlink"/></Relationships>
</file>

<file path=ppt/slides/slide1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>
            <a:grpSpLocks noChangeAspect="true"/>
          </p:cNvGrpSpPr>
          <p:nvPr/>
        </p:nvGrpSpPr>
        <p:grpSpPr>
          <a:xfrm rot="0">
            <a:off x="457200" y="457200"/>
            <a:ext cx="9779003" cy="952500"/>
            <a:chOff x="0" y="0"/>
            <a:chExt cx="9779000" cy="952500"/>
          </a:xfrm>
        </p:grpSpPr>
        <p:sp>
          <p:nvSpPr>
            <p:cNvPr name="Freeform 3" id="3"/>
            <p:cNvSpPr/>
            <p:nvPr/>
          </p:nvSpPr>
          <p:spPr>
            <a:xfrm flipH="false" flipV="false" rot="0">
              <a:off x="0" y="0"/>
              <a:ext cx="9779000" cy="952500"/>
            </a:xfrm>
            <a:custGeom>
              <a:avLst/>
              <a:gdLst/>
              <a:ahLst/>
              <a:cxnLst/>
              <a:rect r="r" b="b" t="t" l="l"/>
              <a:pathLst>
                <a:path h="952500" w="9779000">
                  <a:moveTo>
                    <a:pt x="0" y="952500"/>
                  </a:moveTo>
                  <a:lnTo>
                    <a:pt x="9779000" y="952500"/>
                  </a:lnTo>
                  <a:lnTo>
                    <a:pt x="977900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FFFF"/>
            </a:solidFill>
          </p:spPr>
        </p:sp>
      </p:grpSp>
      <p:sp>
        <p:nvSpPr>
          <p:cNvPr name="Freeform 4" id="4"/>
          <p:cNvSpPr/>
          <p:nvPr/>
        </p:nvSpPr>
        <p:spPr>
          <a:xfrm flipH="false" flipV="false" rot="0">
            <a:off x="393697" y="2958651"/>
            <a:ext cx="9906000" cy="6047356"/>
          </a:xfrm>
          <a:custGeom>
            <a:avLst/>
            <a:gdLst/>
            <a:ahLst/>
            <a:cxnLst/>
            <a:rect r="r" b="b" t="t" l="l"/>
            <a:pathLst>
              <a:path h="6047356" w="9906000">
                <a:moveTo>
                  <a:pt x="0" y="0"/>
                </a:moveTo>
                <a:lnTo>
                  <a:pt x="9906000" y="0"/>
                </a:lnTo>
                <a:lnTo>
                  <a:pt x="9906000" y="6047356"/>
                </a:lnTo>
                <a:lnTo>
                  <a:pt x="0" y="6047356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5" id="5"/>
          <p:cNvSpPr/>
          <p:nvPr/>
        </p:nvSpPr>
        <p:spPr>
          <a:xfrm flipH="false" flipV="false" rot="0">
            <a:off x="3663953" y="348412"/>
            <a:ext cx="3333750" cy="1584703"/>
          </a:xfrm>
          <a:custGeom>
            <a:avLst/>
            <a:gdLst/>
            <a:ahLst/>
            <a:cxnLst/>
            <a:rect r="r" b="b" t="t" l="l"/>
            <a:pathLst>
              <a:path h="1584703" w="3333750">
                <a:moveTo>
                  <a:pt x="0" y="0"/>
                </a:moveTo>
                <a:lnTo>
                  <a:pt x="3333750" y="0"/>
                </a:lnTo>
                <a:lnTo>
                  <a:pt x="3333750" y="1584703"/>
                </a:lnTo>
                <a:lnTo>
                  <a:pt x="0" y="1584703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>
              <a:fillRect l="0" t="0" r="0" b="0"/>
            </a:stretch>
          </a:blipFill>
        </p:spPr>
      </p:sp>
      <p:sp>
        <p:nvSpPr>
          <p:cNvPr name="Freeform 6" id="6"/>
          <p:cNvSpPr/>
          <p:nvPr/>
        </p:nvSpPr>
        <p:spPr>
          <a:xfrm flipH="false" flipV="false" rot="0">
            <a:off x="6902453" y="457200"/>
            <a:ext cx="3333750" cy="1357760"/>
          </a:xfrm>
          <a:custGeom>
            <a:avLst/>
            <a:gdLst/>
            <a:ahLst/>
            <a:cxnLst/>
            <a:rect r="r" b="b" t="t" l="l"/>
            <a:pathLst>
              <a:path h="1357760" w="3333750">
                <a:moveTo>
                  <a:pt x="0" y="0"/>
                </a:moveTo>
                <a:lnTo>
                  <a:pt x="3333750" y="0"/>
                </a:lnTo>
                <a:lnTo>
                  <a:pt x="3333750" y="1357760"/>
                </a:lnTo>
                <a:lnTo>
                  <a:pt x="0" y="1357760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>
              <a:fillRect l="0" t="0" r="0" b="0"/>
            </a:stretch>
          </a:blipFill>
        </p:spPr>
      </p:sp>
      <p:sp>
        <p:nvSpPr>
          <p:cNvPr name="Freeform 7" id="7"/>
          <p:cNvSpPr/>
          <p:nvPr/>
        </p:nvSpPr>
        <p:spPr>
          <a:xfrm flipH="false" flipV="false" rot="0">
            <a:off x="457200" y="457200"/>
            <a:ext cx="1905000" cy="840867"/>
          </a:xfrm>
          <a:custGeom>
            <a:avLst/>
            <a:gdLst/>
            <a:ahLst/>
            <a:cxnLst/>
            <a:rect r="r" b="b" t="t" l="l"/>
            <a:pathLst>
              <a:path h="840867" w="1905000">
                <a:moveTo>
                  <a:pt x="0" y="0"/>
                </a:moveTo>
                <a:lnTo>
                  <a:pt x="1905000" y="0"/>
                </a:lnTo>
                <a:lnTo>
                  <a:pt x="1905000" y="840867"/>
                </a:lnTo>
                <a:lnTo>
                  <a:pt x="0" y="840867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>
              <a:fillRect l="0" t="0" r="0" b="0"/>
            </a:stretch>
          </a:blipFill>
        </p:spPr>
      </p:sp>
      <p:grpSp>
        <p:nvGrpSpPr>
          <p:cNvPr name="Group 8" id="8"/>
          <p:cNvGrpSpPr>
            <a:grpSpLocks noChangeAspect="true"/>
          </p:cNvGrpSpPr>
          <p:nvPr/>
        </p:nvGrpSpPr>
        <p:grpSpPr>
          <a:xfrm rot="0">
            <a:off x="5521328" y="9167879"/>
            <a:ext cx="19050" cy="2570226"/>
            <a:chOff x="0" y="0"/>
            <a:chExt cx="19050" cy="2570226"/>
          </a:xfrm>
        </p:grpSpPr>
        <p:sp>
          <p:nvSpPr>
            <p:cNvPr name="Freeform 9" id="9"/>
            <p:cNvSpPr/>
            <p:nvPr/>
          </p:nvSpPr>
          <p:spPr>
            <a:xfrm flipH="false" flipV="false" rot="0">
              <a:off x="0" y="0"/>
              <a:ext cx="19050" cy="2570226"/>
            </a:xfrm>
            <a:custGeom>
              <a:avLst/>
              <a:gdLst/>
              <a:ahLst/>
              <a:cxnLst/>
              <a:rect r="r" b="b" t="t" l="l"/>
              <a:pathLst>
                <a:path h="2570226" w="19050">
                  <a:moveTo>
                    <a:pt x="0" y="0"/>
                  </a:moveTo>
                  <a:lnTo>
                    <a:pt x="0" y="2570226"/>
                  </a:lnTo>
                  <a:lnTo>
                    <a:pt x="19050" y="2570226"/>
                  </a:lnTo>
                  <a:lnTo>
                    <a:pt x="19050" y="0"/>
                  </a:lnTo>
                  <a:lnTo>
                    <a:pt x="0" y="0"/>
                  </a:lnTo>
                </a:path>
              </a:pathLst>
            </a:custGeom>
            <a:solidFill>
              <a:srgbClr val="DDDDDD"/>
            </a:solidFill>
          </p:spPr>
        </p:sp>
      </p:grpSp>
      <p:grpSp>
        <p:nvGrpSpPr>
          <p:cNvPr name="Group 10" id="10"/>
          <p:cNvGrpSpPr>
            <a:grpSpLocks noChangeAspect="true"/>
          </p:cNvGrpSpPr>
          <p:nvPr/>
        </p:nvGrpSpPr>
        <p:grpSpPr>
          <a:xfrm rot="0">
            <a:off x="2163823" y="9167879"/>
            <a:ext cx="1428750" cy="1428750"/>
            <a:chOff x="0" y="0"/>
            <a:chExt cx="1905000" cy="1905000"/>
          </a:xfrm>
        </p:grpSpPr>
        <p:sp>
          <p:nvSpPr>
            <p:cNvPr name="Freeform 11" id="11">
              <a:extLs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 flipH="false" flipV="false" rot="0">
              <a:off x="0" y="0"/>
              <a:ext cx="1905000" cy="1905000"/>
            </a:xfrm>
            <a:custGeom>
              <a:avLst/>
              <a:gdLst/>
              <a:ahLst/>
              <a:cxnLst/>
              <a:rect r="r" b="b" t="t" l="l"/>
              <a:pathLst>
                <a:path h="1905000" w="1905000">
                  <a:moveTo>
                    <a:pt x="127000" y="0"/>
                  </a:moveTo>
                  <a:cubicBezTo>
                    <a:pt x="56769" y="0"/>
                    <a:pt x="0" y="56896"/>
                    <a:pt x="0" y="127000"/>
                  </a:cubicBezTo>
                  <a:lnTo>
                    <a:pt x="0" y="1778000"/>
                  </a:lnTo>
                  <a:cubicBezTo>
                    <a:pt x="0" y="1848104"/>
                    <a:pt x="56769" y="1905000"/>
                    <a:pt x="127000" y="1905000"/>
                  </a:cubicBezTo>
                  <a:lnTo>
                    <a:pt x="1778000" y="1905000"/>
                  </a:lnTo>
                  <a:cubicBezTo>
                    <a:pt x="1848104" y="1905000"/>
                    <a:pt x="1905000" y="1848104"/>
                    <a:pt x="1905000" y="1778000"/>
                  </a:cubicBezTo>
                  <a:lnTo>
                    <a:pt x="1905000" y="127000"/>
                  </a:lnTo>
                  <a:cubicBezTo>
                    <a:pt x="1905000" y="56896"/>
                    <a:pt x="1848104" y="0"/>
                    <a:pt x="1778000" y="0"/>
                  </a:cubicBezTo>
                  <a:close/>
                </a:path>
              </a:pathLst>
            </a:custGeom>
            <a:blipFill>
              <a:blip r:embed="rId7"/>
              <a:stretch>
                <a:fillRect l="0" t="0" r="0" b="0"/>
              </a:stretch>
            </a:blipFill>
          </p:spPr>
        </p:sp>
      </p:grpSp>
      <p:sp>
        <p:nvSpPr>
          <p:cNvPr name="Freeform 12" id="12"/>
          <p:cNvSpPr/>
          <p:nvPr/>
        </p:nvSpPr>
        <p:spPr>
          <a:xfrm flipH="false" flipV="false" rot="0">
            <a:off x="8331203" y="11738105"/>
            <a:ext cx="1905000" cy="902713"/>
          </a:xfrm>
          <a:custGeom>
            <a:avLst/>
            <a:gdLst/>
            <a:ahLst/>
            <a:cxnLst/>
            <a:rect r="r" b="b" t="t" l="l"/>
            <a:pathLst>
              <a:path h="902713" w="1905000">
                <a:moveTo>
                  <a:pt x="0" y="0"/>
                </a:moveTo>
                <a:lnTo>
                  <a:pt x="1905000" y="0"/>
                </a:lnTo>
                <a:lnTo>
                  <a:pt x="1905000" y="902713"/>
                </a:lnTo>
                <a:lnTo>
                  <a:pt x="0" y="902713"/>
                </a:lnTo>
                <a:lnTo>
                  <a:pt x="0" y="0"/>
                </a:lnTo>
                <a:close/>
              </a:path>
            </a:pathLst>
          </a:custGeom>
          <a:blipFill>
            <a:blip r:embed="rId8"/>
            <a:stretch>
              <a:fillRect l="0" t="0" r="0" b="0"/>
            </a:stretch>
          </a:blipFill>
        </p:spPr>
      </p:sp>
      <p:sp>
        <p:nvSpPr>
          <p:cNvPr name="TextBox 13" id="13"/>
          <p:cNvSpPr txBox="true"/>
          <p:nvPr/>
        </p:nvSpPr>
        <p:spPr>
          <a:xfrm rot="0">
            <a:off x="4211831" y="1326642"/>
            <a:ext cx="2690622" cy="232991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885"/>
              </a:lnSpc>
            </a:pPr>
            <a:r>
              <a:rPr lang="en-US" sz="1725" spc="-5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Kingdom of Saudi Arabia</a:t>
            </a:r>
          </a:p>
        </p:txBody>
      </p:sp>
      <p:sp>
        <p:nvSpPr>
          <p:cNvPr name="TextBox 14" id="14"/>
          <p:cNvSpPr txBox="true"/>
          <p:nvPr/>
        </p:nvSpPr>
        <p:spPr>
          <a:xfrm rot="0">
            <a:off x="5346697" y="1605153"/>
            <a:ext cx="72866" cy="434797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459"/>
              </a:lnSpc>
            </a:pPr>
            <a:r>
              <a:rPr lang="en-US" sz="2250">
                <a:solidFill>
                  <a:srgbClr val="2C3E77"/>
                </a:solidFill>
                <a:latin typeface="Arab Times"/>
                <a:ea typeface="Arab Times"/>
                <a:cs typeface="Arab Times"/>
                <a:sym typeface="Arab Times"/>
              </a:rPr>
              <a:t> </a:t>
            </a:r>
          </a:p>
        </p:txBody>
      </p:sp>
      <p:sp>
        <p:nvSpPr>
          <p:cNvPr name="TextBox 15" id="15"/>
          <p:cNvSpPr txBox="true"/>
          <p:nvPr/>
        </p:nvSpPr>
        <p:spPr>
          <a:xfrm rot="0">
            <a:off x="4241168" y="1885490"/>
            <a:ext cx="2255358" cy="39052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 rtl="true">
              <a:lnSpc>
                <a:spcPts val="3149"/>
              </a:lnSpc>
            </a:pPr>
            <a:r>
              <a:rPr lang="ar-EG" b="true" sz="2250">
                <a:solidFill>
                  <a:srgbClr val="306DB5"/>
                </a:solidFill>
                <a:latin typeface="Noto Sans Arabic Bold"/>
                <a:ea typeface="Noto Sans Arabic Bold"/>
                <a:cs typeface="Noto Sans Arabic Bold"/>
                <a:sym typeface="Noto Sans Arabic Bold"/>
                <a:rtl val="true"/>
              </a:rPr>
              <a:t>تقرير إجازة مرضية</a:t>
            </a:r>
          </a:p>
        </p:txBody>
      </p:sp>
      <p:sp>
        <p:nvSpPr>
          <p:cNvPr name="TextBox 16" id="16"/>
          <p:cNvSpPr txBox="true"/>
          <p:nvPr/>
        </p:nvSpPr>
        <p:spPr>
          <a:xfrm rot="0">
            <a:off x="476250" y="5770893"/>
            <a:ext cx="2044969" cy="30099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2309"/>
              </a:lnSpc>
            </a:pPr>
            <a:r>
              <a:rPr lang="en-US" b="true" sz="1649">
                <a:solidFill>
                  <a:srgbClr val="366FB5"/>
                </a:solidFill>
                <a:latin typeface="Times New Roman Bold"/>
                <a:ea typeface="Times New Roman Bold"/>
                <a:cs typeface="Times New Roman Bold"/>
                <a:sym typeface="Times New Roman Bold"/>
              </a:rPr>
              <a:t>Name</a:t>
            </a:r>
          </a:p>
        </p:txBody>
      </p:sp>
      <p:sp>
        <p:nvSpPr>
          <p:cNvPr name="TextBox 17" id="17"/>
          <p:cNvSpPr txBox="true"/>
          <p:nvPr/>
        </p:nvSpPr>
        <p:spPr>
          <a:xfrm rot="0">
            <a:off x="476250" y="8519065"/>
            <a:ext cx="2044969" cy="27495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2169"/>
              </a:lnSpc>
            </a:pPr>
            <a:r>
              <a:rPr lang="en-US" b="true" sz="1549">
                <a:solidFill>
                  <a:srgbClr val="366FB5"/>
                </a:solidFill>
                <a:latin typeface="Times New Roman Bold"/>
                <a:ea typeface="Times New Roman Bold"/>
                <a:cs typeface="Times New Roman Bold"/>
                <a:sym typeface="Times New Roman Bold"/>
              </a:rPr>
              <a:t>Position</a:t>
            </a:r>
          </a:p>
        </p:txBody>
      </p:sp>
      <p:sp>
        <p:nvSpPr>
          <p:cNvPr name="TextBox 18" id="18"/>
          <p:cNvSpPr txBox="true"/>
          <p:nvPr/>
        </p:nvSpPr>
        <p:spPr>
          <a:xfrm rot="0">
            <a:off x="476250" y="3151280"/>
            <a:ext cx="2043025" cy="24193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1889"/>
              </a:lnSpc>
            </a:pPr>
            <a:r>
              <a:rPr lang="en-US" b="true" sz="1350">
                <a:solidFill>
                  <a:srgbClr val="366FB5"/>
                </a:solidFill>
                <a:latin typeface="Times New Roman Bold"/>
                <a:ea typeface="Times New Roman Bold"/>
                <a:cs typeface="Times New Roman Bold"/>
                <a:sym typeface="Times New Roman Bold"/>
              </a:rPr>
              <a:t>Leave ID</a:t>
            </a:r>
          </a:p>
        </p:txBody>
      </p:sp>
      <p:sp>
        <p:nvSpPr>
          <p:cNvPr name="TextBox 19" id="19"/>
          <p:cNvSpPr txBox="true"/>
          <p:nvPr/>
        </p:nvSpPr>
        <p:spPr>
          <a:xfrm rot="0">
            <a:off x="476250" y="7419746"/>
            <a:ext cx="2044969" cy="27495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2169"/>
              </a:lnSpc>
            </a:pPr>
            <a:r>
              <a:rPr lang="en-US" b="true" sz="1549">
                <a:solidFill>
                  <a:srgbClr val="366FB5"/>
                </a:solidFill>
                <a:latin typeface="Times New Roman Bold"/>
                <a:ea typeface="Times New Roman Bold"/>
                <a:cs typeface="Times New Roman Bold"/>
                <a:sym typeface="Times New Roman Bold"/>
              </a:rPr>
              <a:t>Employer</a:t>
            </a:r>
          </a:p>
        </p:txBody>
      </p:sp>
      <p:sp>
        <p:nvSpPr>
          <p:cNvPr name="TextBox 20" id="20"/>
          <p:cNvSpPr txBox="true"/>
          <p:nvPr/>
        </p:nvSpPr>
        <p:spPr>
          <a:xfrm rot="0">
            <a:off x="476250" y="5246884"/>
            <a:ext cx="2044969" cy="27495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2169"/>
              </a:lnSpc>
            </a:pPr>
            <a:r>
              <a:rPr lang="en-US" b="true" sz="1549">
                <a:solidFill>
                  <a:srgbClr val="366FB5"/>
                </a:solidFill>
                <a:latin typeface="Times New Roman Bold"/>
                <a:ea typeface="Times New Roman Bold"/>
                <a:cs typeface="Times New Roman Bold"/>
                <a:sym typeface="Times New Roman Bold"/>
              </a:rPr>
              <a:t>Issue Date</a:t>
            </a:r>
          </a:p>
        </p:txBody>
      </p:sp>
      <p:sp>
        <p:nvSpPr>
          <p:cNvPr name="TextBox 21" id="21"/>
          <p:cNvSpPr txBox="true"/>
          <p:nvPr/>
        </p:nvSpPr>
        <p:spPr>
          <a:xfrm rot="0">
            <a:off x="476250" y="6886099"/>
            <a:ext cx="2044969" cy="27495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2169"/>
              </a:lnSpc>
            </a:pPr>
            <a:r>
              <a:rPr lang="en-US" b="true" sz="1549">
                <a:solidFill>
                  <a:srgbClr val="366FB5"/>
                </a:solidFill>
                <a:latin typeface="Times New Roman Bold"/>
                <a:ea typeface="Times New Roman Bold"/>
                <a:cs typeface="Times New Roman Bold"/>
                <a:sym typeface="Times New Roman Bold"/>
              </a:rPr>
              <a:t>Nationality</a:t>
            </a:r>
          </a:p>
        </p:txBody>
      </p:sp>
      <p:sp>
        <p:nvSpPr>
          <p:cNvPr name="TextBox 22" id="22"/>
          <p:cNvSpPr txBox="true"/>
          <p:nvPr/>
        </p:nvSpPr>
        <p:spPr>
          <a:xfrm rot="0">
            <a:off x="457200" y="3694328"/>
            <a:ext cx="2062075" cy="24193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1889"/>
              </a:lnSpc>
            </a:pPr>
            <a:r>
              <a:rPr lang="en-US" b="true" sz="1350">
                <a:solidFill>
                  <a:srgbClr val="FFFFFF"/>
                </a:solidFill>
                <a:latin typeface="Times New Roman Bold"/>
                <a:ea typeface="Times New Roman Bold"/>
                <a:cs typeface="Times New Roman Bold"/>
                <a:sym typeface="Times New Roman Bold"/>
              </a:rPr>
              <a:t>Leave Duration</a:t>
            </a:r>
          </a:p>
        </p:txBody>
      </p:sp>
      <p:sp>
        <p:nvSpPr>
          <p:cNvPr name="TextBox 23" id="23"/>
          <p:cNvSpPr txBox="true"/>
          <p:nvPr/>
        </p:nvSpPr>
        <p:spPr>
          <a:xfrm rot="0">
            <a:off x="476250" y="4713237"/>
            <a:ext cx="2044969" cy="27495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2169"/>
              </a:lnSpc>
            </a:pPr>
            <a:r>
              <a:rPr lang="en-US" b="true" sz="1549">
                <a:solidFill>
                  <a:srgbClr val="366FB5"/>
                </a:solidFill>
                <a:latin typeface="Times New Roman Bold"/>
                <a:ea typeface="Times New Roman Bold"/>
                <a:cs typeface="Times New Roman Bold"/>
                <a:sym typeface="Times New Roman Bold"/>
              </a:rPr>
              <a:t>Discharge Date</a:t>
            </a:r>
          </a:p>
        </p:txBody>
      </p:sp>
      <p:sp>
        <p:nvSpPr>
          <p:cNvPr name="TextBox 24" id="24"/>
          <p:cNvSpPr txBox="true"/>
          <p:nvPr/>
        </p:nvSpPr>
        <p:spPr>
          <a:xfrm rot="0">
            <a:off x="476250" y="4187069"/>
            <a:ext cx="2044969" cy="27495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2169"/>
              </a:lnSpc>
            </a:pPr>
            <a:r>
              <a:rPr lang="en-US" b="true" sz="1549">
                <a:solidFill>
                  <a:srgbClr val="366FB5"/>
                </a:solidFill>
                <a:latin typeface="Times New Roman Bold"/>
                <a:ea typeface="Times New Roman Bold"/>
                <a:cs typeface="Times New Roman Bold"/>
                <a:sym typeface="Times New Roman Bold"/>
              </a:rPr>
              <a:t>Admission Date</a:t>
            </a:r>
          </a:p>
        </p:txBody>
      </p:sp>
      <p:sp>
        <p:nvSpPr>
          <p:cNvPr name="TextBox 25" id="25"/>
          <p:cNvSpPr txBox="true"/>
          <p:nvPr/>
        </p:nvSpPr>
        <p:spPr>
          <a:xfrm rot="0">
            <a:off x="476250" y="7969406"/>
            <a:ext cx="2044969" cy="27495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2169"/>
              </a:lnSpc>
            </a:pPr>
            <a:r>
              <a:rPr lang="en-US" b="true" sz="1549">
                <a:solidFill>
                  <a:srgbClr val="366FB5"/>
                </a:solidFill>
                <a:latin typeface="Times New Roman Bold"/>
                <a:ea typeface="Times New Roman Bold"/>
                <a:cs typeface="Times New Roman Bold"/>
                <a:sym typeface="Times New Roman Bold"/>
              </a:rPr>
              <a:t>Practitioner Name</a:t>
            </a:r>
          </a:p>
        </p:txBody>
      </p:sp>
      <p:sp>
        <p:nvSpPr>
          <p:cNvPr name="TextBox 26" id="26"/>
          <p:cNvSpPr txBox="true"/>
          <p:nvPr/>
        </p:nvSpPr>
        <p:spPr>
          <a:xfrm rot="0">
            <a:off x="476250" y="6352565"/>
            <a:ext cx="2044969" cy="27495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2169"/>
              </a:lnSpc>
            </a:pPr>
            <a:r>
              <a:rPr lang="en-US" b="true" sz="1549">
                <a:solidFill>
                  <a:srgbClr val="366FB5"/>
                </a:solidFill>
                <a:latin typeface="Times New Roman Bold"/>
                <a:ea typeface="Times New Roman Bold"/>
                <a:cs typeface="Times New Roman Bold"/>
                <a:sym typeface="Times New Roman Bold"/>
              </a:rPr>
              <a:t>National ID / Iqama</a:t>
            </a:r>
          </a:p>
        </p:txBody>
      </p:sp>
      <p:sp>
        <p:nvSpPr>
          <p:cNvPr name="TextBox 27" id="27"/>
          <p:cNvSpPr txBox="true"/>
          <p:nvPr/>
        </p:nvSpPr>
        <p:spPr>
          <a:xfrm rot="0">
            <a:off x="2521219" y="4233177"/>
            <a:ext cx="3117533" cy="23241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1889"/>
              </a:lnSpc>
            </a:pPr>
            <a:r>
              <a:rPr lang="en-US" sz="1350" spc="-4">
                <a:solidFill>
                  <a:srgbClr val="2C3E77"/>
                </a:solidFill>
                <a:latin typeface="Open Sans"/>
                <a:ea typeface="Open Sans"/>
                <a:cs typeface="Open Sans"/>
                <a:sym typeface="Open Sans"/>
              </a:rPr>
              <a:t>{{ENTRY_DATE_GREGORIAN}}</a:t>
            </a:r>
          </a:p>
        </p:txBody>
      </p:sp>
      <p:sp>
        <p:nvSpPr>
          <p:cNvPr name="TextBox 28" id="28"/>
          <p:cNvSpPr txBox="true"/>
          <p:nvPr/>
        </p:nvSpPr>
        <p:spPr>
          <a:xfrm rot="0">
            <a:off x="2521219" y="4766824"/>
            <a:ext cx="3117533" cy="23241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1889"/>
              </a:lnSpc>
            </a:pPr>
            <a:r>
              <a:rPr lang="en-US" sz="1350" spc="-4">
                <a:solidFill>
                  <a:srgbClr val="2C3E77"/>
                </a:solidFill>
                <a:latin typeface="Open Sans"/>
                <a:ea typeface="Open Sans"/>
                <a:cs typeface="Open Sans"/>
                <a:sym typeface="Open Sans"/>
              </a:rPr>
              <a:t>{{EXIT_DATE_GREGORIAN}}</a:t>
            </a:r>
          </a:p>
        </p:txBody>
      </p:sp>
      <p:sp>
        <p:nvSpPr>
          <p:cNvPr name="TextBox 29" id="29"/>
          <p:cNvSpPr txBox="true"/>
          <p:nvPr/>
        </p:nvSpPr>
        <p:spPr>
          <a:xfrm rot="0">
            <a:off x="2519275" y="3690118"/>
            <a:ext cx="377140" cy="119443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r">
              <a:lnSpc>
                <a:spcPts val="1889"/>
              </a:lnSpc>
            </a:pPr>
            <a:r>
              <a:rPr lang="en-US" sz="1350" spc="-4">
                <a:solidFill>
                  <a:srgbClr val="FFFFFF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{{DAYS_COUNT}}</a:t>
            </a:r>
          </a:p>
        </p:txBody>
      </p:sp>
      <p:sp>
        <p:nvSpPr>
          <p:cNvPr name="TextBox 30" id="30"/>
          <p:cNvSpPr txBox="true"/>
          <p:nvPr/>
        </p:nvSpPr>
        <p:spPr>
          <a:xfrm rot="0">
            <a:off x="3956428" y="7291711"/>
            <a:ext cx="174879" cy="447027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375"/>
              </a:lnSpc>
            </a:pPr>
            <a:r>
              <a:rPr lang="en-US" sz="1350" spc="-4">
                <a:solidFill>
                  <a:srgbClr val="2C3E77"/>
                </a:solidFill>
                <a:latin typeface="Open Sans"/>
                <a:ea typeface="Open Sans"/>
                <a:cs typeface="Open Sans"/>
                <a:sym typeface="Open Sans"/>
              </a:rPr>
              <a:t>    </a:t>
            </a:r>
          </a:p>
        </p:txBody>
      </p:sp>
      <p:sp>
        <p:nvSpPr>
          <p:cNvPr name="TextBox 31" id="31"/>
          <p:cNvSpPr txBox="true"/>
          <p:nvPr/>
        </p:nvSpPr>
        <p:spPr>
          <a:xfrm rot="0">
            <a:off x="2521219" y="8381505"/>
            <a:ext cx="3023083" cy="38671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3375"/>
              </a:lnSpc>
            </a:pPr>
            <a:r>
              <a:rPr lang="en-US" sz="1350" spc="-4">
                <a:solidFill>
                  <a:srgbClr val="2C3E77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{{JOB_TITLE_EN}}</a:t>
            </a:r>
          </a:p>
        </p:txBody>
      </p:sp>
      <p:sp>
        <p:nvSpPr>
          <p:cNvPr name="TextBox 32" id="32"/>
          <p:cNvSpPr txBox="true"/>
          <p:nvPr/>
        </p:nvSpPr>
        <p:spPr>
          <a:xfrm rot="0">
            <a:off x="2521219" y="5300358"/>
            <a:ext cx="6048109" cy="23241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1889"/>
              </a:lnSpc>
            </a:pPr>
            <a:r>
              <a:rPr lang="en-US" sz="1350" spc="-4">
                <a:solidFill>
                  <a:srgbClr val="2C3E77"/>
                </a:solidFill>
                <a:latin typeface="Open Sans"/>
                <a:ea typeface="Open Sans"/>
                <a:cs typeface="Open Sans"/>
                <a:sym typeface="Open Sans"/>
              </a:rPr>
              <a:t>{{REPORT_ISSUE_DATE}}</a:t>
            </a:r>
          </a:p>
        </p:txBody>
      </p:sp>
      <p:sp>
        <p:nvSpPr>
          <p:cNvPr name="TextBox 33" id="33"/>
          <p:cNvSpPr txBox="true"/>
          <p:nvPr/>
        </p:nvSpPr>
        <p:spPr>
          <a:xfrm rot="0">
            <a:off x="2519275" y="6367405"/>
            <a:ext cx="6050053" cy="23241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1889"/>
              </a:lnSpc>
            </a:pPr>
            <a:r>
              <a:rPr lang="en-US" sz="1350" spc="-4">
                <a:solidFill>
                  <a:srgbClr val="2C3E77"/>
                </a:solidFill>
                <a:latin typeface="Open Sans"/>
                <a:ea typeface="Open Sans"/>
                <a:cs typeface="Open Sans"/>
                <a:sym typeface="Open Sans"/>
              </a:rPr>
              <a:t>{{ID_NUMBER}}</a:t>
            </a:r>
          </a:p>
        </p:txBody>
      </p:sp>
      <p:sp>
        <p:nvSpPr>
          <p:cNvPr name="TextBox 34" id="34"/>
          <p:cNvSpPr txBox="true"/>
          <p:nvPr/>
        </p:nvSpPr>
        <p:spPr>
          <a:xfrm rot="0">
            <a:off x="5871210" y="3696729"/>
            <a:ext cx="917943" cy="48006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1889"/>
              </a:lnSpc>
            </a:pPr>
            <a:r>
              <a:rPr lang="en-US" sz="1350" spc="-4">
                <a:solidFill>
                  <a:srgbClr val="FFFFFF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{{EXIT_DATE_HIJRI}}</a:t>
            </a:r>
          </a:p>
        </p:txBody>
      </p:sp>
      <p:sp>
        <p:nvSpPr>
          <p:cNvPr name="TextBox 35" id="35"/>
          <p:cNvSpPr txBox="true"/>
          <p:nvPr/>
        </p:nvSpPr>
        <p:spPr>
          <a:xfrm rot="0">
            <a:off x="5568953" y="4233177"/>
            <a:ext cx="3076899" cy="23241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1889"/>
              </a:lnSpc>
            </a:pPr>
            <a:r>
              <a:rPr lang="en-US" sz="1350" spc="-4">
                <a:solidFill>
                  <a:srgbClr val="2C3E77"/>
                </a:solidFill>
                <a:latin typeface="Open Sans"/>
                <a:ea typeface="Open Sans"/>
                <a:cs typeface="Open Sans"/>
                <a:sym typeface="Open Sans"/>
              </a:rPr>
              <a:t>{{ENTRY_DATE_HIJRI}}</a:t>
            </a:r>
          </a:p>
        </p:txBody>
      </p:sp>
      <p:sp>
        <p:nvSpPr>
          <p:cNvPr name="TextBox 36" id="36"/>
          <p:cNvSpPr txBox="true"/>
          <p:nvPr/>
        </p:nvSpPr>
        <p:spPr>
          <a:xfrm rot="0">
            <a:off x="5568953" y="4766824"/>
            <a:ext cx="3076899" cy="23241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1889"/>
              </a:lnSpc>
            </a:pPr>
            <a:r>
              <a:rPr lang="en-US" sz="1350" spc="-4">
                <a:solidFill>
                  <a:srgbClr val="2C3E77"/>
                </a:solidFill>
                <a:latin typeface="Open Sans"/>
                <a:ea typeface="Open Sans"/>
                <a:cs typeface="Open Sans"/>
                <a:sym typeface="Open Sans"/>
              </a:rPr>
              <a:t>{{EXIT_DATE_HIJRI}}</a:t>
            </a:r>
          </a:p>
        </p:txBody>
      </p:sp>
      <p:sp>
        <p:nvSpPr>
          <p:cNvPr name="TextBox 37" id="37"/>
          <p:cNvSpPr txBox="true"/>
          <p:nvPr/>
        </p:nvSpPr>
        <p:spPr>
          <a:xfrm rot="0">
            <a:off x="6986930" y="3708073"/>
            <a:ext cx="855902" cy="71818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1889"/>
              </a:lnSpc>
            </a:pPr>
            <a:r>
              <a:rPr lang="en-US" sz="1350" spc="-4">
                <a:solidFill>
                  <a:srgbClr val="FFFFFF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{{ENTRY_DATE_HIJRI}}</a:t>
            </a:r>
          </a:p>
        </p:txBody>
      </p:sp>
      <p:sp>
        <p:nvSpPr>
          <p:cNvPr name="TextBox 38" id="38"/>
          <p:cNvSpPr txBox="true"/>
          <p:nvPr/>
        </p:nvSpPr>
        <p:spPr>
          <a:xfrm rot="0">
            <a:off x="8142351" y="3696729"/>
            <a:ext cx="435959" cy="95631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889"/>
              </a:lnSpc>
            </a:pPr>
            <a:r>
              <a:rPr lang="en-US" sz="1350" spc="-4">
                <a:solidFill>
                  <a:srgbClr val="FFFFFF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{{DAYS_COUNT}}</a:t>
            </a:r>
          </a:p>
        </p:txBody>
      </p:sp>
      <p:sp>
        <p:nvSpPr>
          <p:cNvPr name="TextBox 39" id="39"/>
          <p:cNvSpPr txBox="true"/>
          <p:nvPr/>
        </p:nvSpPr>
        <p:spPr>
          <a:xfrm rot="0">
            <a:off x="6771132" y="3697100"/>
            <a:ext cx="215798" cy="23241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rtl="true">
              <a:lnSpc>
                <a:spcPts val="1889"/>
              </a:lnSpc>
            </a:pPr>
            <a:r>
              <a:rPr lang="ar-EG" sz="1350">
                <a:solidFill>
                  <a:srgbClr val="FFFFFF"/>
                </a:solidFill>
                <a:latin typeface="Noto Sans Arabic"/>
                <a:ea typeface="Noto Sans Arabic"/>
                <a:cs typeface="Noto Sans Arabic"/>
                <a:sym typeface="Noto Sans Arabic"/>
                <a:rtl val="true"/>
              </a:rPr>
              <a:t>الى</a:t>
            </a:r>
          </a:p>
        </p:txBody>
      </p:sp>
      <p:sp>
        <p:nvSpPr>
          <p:cNvPr name="TextBox 40" id="40"/>
          <p:cNvSpPr txBox="true"/>
          <p:nvPr/>
        </p:nvSpPr>
        <p:spPr>
          <a:xfrm rot="0">
            <a:off x="5568953" y="7431919"/>
            <a:ext cx="3000375" cy="23241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 rtl="true">
              <a:lnSpc>
                <a:spcPts val="1889"/>
              </a:lnSpc>
            </a:pPr>
            <a:r>
              <a:rPr lang="ar-EG" sz="1350">
                <a:solidFill>
                  <a:srgbClr val="2C3E77"/>
                </a:solidFill>
                <a:latin typeface="Noto Sans Arabic"/>
                <a:ea typeface="Noto Sans Arabic"/>
                <a:cs typeface="Noto Sans Arabic"/>
                <a:sym typeface="Noto Sans Arabic"/>
                <a:rtl val="true"/>
              </a:rPr>
              <a:t>الى من يهمه الامر</a:t>
            </a:r>
          </a:p>
        </p:txBody>
      </p:sp>
      <p:sp>
        <p:nvSpPr>
          <p:cNvPr name="TextBox 41" id="41"/>
          <p:cNvSpPr txBox="true"/>
          <p:nvPr/>
        </p:nvSpPr>
        <p:spPr>
          <a:xfrm rot="0">
            <a:off x="5568953" y="6928644"/>
            <a:ext cx="3000375" cy="23241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1889"/>
              </a:lnSpc>
            </a:pPr>
            <a:r>
              <a:rPr lang="en-US" sz="1350">
                <a:solidFill>
                  <a:srgbClr val="2C3E77"/>
                </a:solidFill>
                <a:latin typeface="Noto Sans Arabic"/>
                <a:ea typeface="Noto Sans Arabic"/>
                <a:cs typeface="Noto Sans Arabic"/>
                <a:sym typeface="Noto Sans Arabic"/>
              </a:rPr>
              <a:t>{{NATIONALITY_AR}}</a:t>
            </a:r>
          </a:p>
        </p:txBody>
      </p:sp>
      <p:sp>
        <p:nvSpPr>
          <p:cNvPr name="TextBox 42" id="42"/>
          <p:cNvSpPr txBox="true"/>
          <p:nvPr/>
        </p:nvSpPr>
        <p:spPr>
          <a:xfrm rot="0">
            <a:off x="5568953" y="8531362"/>
            <a:ext cx="3000375" cy="23241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1889"/>
              </a:lnSpc>
            </a:pPr>
            <a:r>
              <a:rPr lang="en-US" sz="1350">
                <a:solidFill>
                  <a:srgbClr val="2C3E77"/>
                </a:solidFill>
                <a:latin typeface="Noto Sans Arabic"/>
                <a:ea typeface="Noto Sans Arabic"/>
                <a:cs typeface="Noto Sans Arabic"/>
                <a:sym typeface="Noto Sans Arabic"/>
              </a:rPr>
              <a:t>{{JOB_TITLE_AR}}</a:t>
            </a:r>
          </a:p>
        </p:txBody>
      </p:sp>
      <p:sp>
        <p:nvSpPr>
          <p:cNvPr name="TextBox 43" id="43"/>
          <p:cNvSpPr txBox="true"/>
          <p:nvPr/>
        </p:nvSpPr>
        <p:spPr>
          <a:xfrm rot="0">
            <a:off x="5564572" y="5868295"/>
            <a:ext cx="3004756" cy="23241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1889"/>
              </a:lnSpc>
            </a:pPr>
            <a:r>
              <a:rPr lang="en-US" sz="1350">
                <a:solidFill>
                  <a:srgbClr val="2C3E77"/>
                </a:solidFill>
                <a:latin typeface="Noto Sans Arabic"/>
                <a:ea typeface="Noto Sans Arabic"/>
                <a:cs typeface="Noto Sans Arabic"/>
                <a:sym typeface="Noto Sans Arabic"/>
              </a:rPr>
              <a:t>{{NAME_AR}}</a:t>
            </a:r>
          </a:p>
        </p:txBody>
      </p:sp>
      <p:sp>
        <p:nvSpPr>
          <p:cNvPr name="TextBox 44" id="44"/>
          <p:cNvSpPr txBox="true"/>
          <p:nvPr/>
        </p:nvSpPr>
        <p:spPr>
          <a:xfrm rot="0">
            <a:off x="5568953" y="8011951"/>
            <a:ext cx="3000375" cy="23241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1889"/>
              </a:lnSpc>
            </a:pPr>
            <a:r>
              <a:rPr lang="en-US" sz="1350">
                <a:solidFill>
                  <a:srgbClr val="2C3E77"/>
                </a:solidFill>
                <a:latin typeface="Noto Sans Arabic"/>
                <a:ea typeface="Noto Sans Arabic"/>
                <a:cs typeface="Noto Sans Arabic"/>
                <a:sym typeface="Noto Sans Arabic"/>
              </a:rPr>
              <a:t>{{DOCTOR_NAME_AR}}</a:t>
            </a:r>
          </a:p>
        </p:txBody>
      </p:sp>
      <p:sp>
        <p:nvSpPr>
          <p:cNvPr name="TextBox 45" id="45"/>
          <p:cNvSpPr txBox="true"/>
          <p:nvPr/>
        </p:nvSpPr>
        <p:spPr>
          <a:xfrm rot="0">
            <a:off x="7927210" y="3697100"/>
            <a:ext cx="219475" cy="27340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rtl="true">
              <a:lnSpc>
                <a:spcPts val="1889"/>
              </a:lnSpc>
            </a:pPr>
            <a:r>
              <a:rPr lang="ar-EG" sz="1350">
                <a:solidFill>
                  <a:srgbClr val="FFFFFF"/>
                </a:solidFill>
                <a:latin typeface="Noto Sans Arabic"/>
                <a:ea typeface="Noto Sans Arabic"/>
                <a:cs typeface="Noto Sans Arabic"/>
                <a:sym typeface="Noto Sans Arabic"/>
                <a:rtl val="true"/>
              </a:rPr>
              <a:t>يوم</a:t>
            </a:r>
          </a:p>
        </p:txBody>
      </p:sp>
      <p:sp>
        <p:nvSpPr>
          <p:cNvPr name="TextBox 46" id="46"/>
          <p:cNvSpPr txBox="true"/>
          <p:nvPr/>
        </p:nvSpPr>
        <p:spPr>
          <a:xfrm rot="0">
            <a:off x="8578310" y="5838711"/>
            <a:ext cx="1657893" cy="23241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 rtl="true">
              <a:lnSpc>
                <a:spcPts val="1889"/>
              </a:lnSpc>
            </a:pPr>
            <a:r>
              <a:rPr lang="ar-EG" b="true" sz="1350">
                <a:solidFill>
                  <a:srgbClr val="366FB5"/>
                </a:solidFill>
                <a:latin typeface="Noto Sans Arabic Bold"/>
                <a:ea typeface="Noto Sans Arabic Bold"/>
                <a:cs typeface="Noto Sans Arabic Bold"/>
                <a:sym typeface="Noto Sans Arabic Bold"/>
                <a:rtl val="true"/>
              </a:rPr>
              <a:t>الاسم</a:t>
            </a:r>
          </a:p>
        </p:txBody>
      </p:sp>
      <p:sp>
        <p:nvSpPr>
          <p:cNvPr name="TextBox 47" id="47"/>
          <p:cNvSpPr txBox="true"/>
          <p:nvPr/>
        </p:nvSpPr>
        <p:spPr>
          <a:xfrm rot="0">
            <a:off x="9102976" y="6905768"/>
            <a:ext cx="628164" cy="27340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rtl="true">
              <a:lnSpc>
                <a:spcPts val="1889"/>
              </a:lnSpc>
            </a:pPr>
            <a:r>
              <a:rPr lang="ar-EG" b="true" sz="1350">
                <a:solidFill>
                  <a:srgbClr val="366FB5"/>
                </a:solidFill>
                <a:latin typeface="Noto Sans Arabic Bold"/>
                <a:ea typeface="Noto Sans Arabic Bold"/>
                <a:cs typeface="Noto Sans Arabic Bold"/>
                <a:sym typeface="Noto Sans Arabic Bold"/>
                <a:rtl val="true"/>
              </a:rPr>
              <a:t>الجنسية</a:t>
            </a:r>
          </a:p>
        </p:txBody>
      </p:sp>
      <p:sp>
        <p:nvSpPr>
          <p:cNvPr name="TextBox 48" id="48"/>
          <p:cNvSpPr txBox="true"/>
          <p:nvPr/>
        </p:nvSpPr>
        <p:spPr>
          <a:xfrm rot="0">
            <a:off x="8569328" y="3161424"/>
            <a:ext cx="1666875" cy="23241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 rtl="true">
              <a:lnSpc>
                <a:spcPts val="1889"/>
              </a:lnSpc>
            </a:pPr>
            <a:r>
              <a:rPr lang="ar-EG" b="true" sz="1350">
                <a:solidFill>
                  <a:srgbClr val="366FB5"/>
                </a:solidFill>
                <a:latin typeface="Noto Sans Arabic Bold"/>
                <a:ea typeface="Noto Sans Arabic Bold"/>
                <a:cs typeface="Noto Sans Arabic Bold"/>
                <a:sym typeface="Noto Sans Arabic Bold"/>
                <a:rtl val="true"/>
              </a:rPr>
              <a:t>رمز الإجازة</a:t>
            </a:r>
          </a:p>
        </p:txBody>
      </p:sp>
      <p:sp>
        <p:nvSpPr>
          <p:cNvPr name="TextBox 49" id="49"/>
          <p:cNvSpPr txBox="true"/>
          <p:nvPr/>
        </p:nvSpPr>
        <p:spPr>
          <a:xfrm rot="0">
            <a:off x="9020556" y="7439292"/>
            <a:ext cx="796223" cy="27340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rtl="true">
              <a:lnSpc>
                <a:spcPts val="1889"/>
              </a:lnSpc>
            </a:pPr>
            <a:r>
              <a:rPr lang="ar-EG" b="true" sz="1350">
                <a:solidFill>
                  <a:srgbClr val="366FB5"/>
                </a:solidFill>
                <a:latin typeface="Noto Sans Arabic Bold"/>
                <a:ea typeface="Noto Sans Arabic Bold"/>
                <a:cs typeface="Noto Sans Arabic Bold"/>
                <a:sym typeface="Noto Sans Arabic Bold"/>
                <a:rtl val="true"/>
              </a:rPr>
              <a:t>جهة العمل</a:t>
            </a:r>
          </a:p>
        </p:txBody>
      </p:sp>
      <p:sp>
        <p:nvSpPr>
          <p:cNvPr name="TextBox 50" id="50"/>
          <p:cNvSpPr txBox="true"/>
          <p:nvPr/>
        </p:nvSpPr>
        <p:spPr>
          <a:xfrm rot="0">
            <a:off x="8578310" y="3704473"/>
            <a:ext cx="1657893" cy="23241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 rtl="true">
              <a:lnSpc>
                <a:spcPts val="1889"/>
              </a:lnSpc>
            </a:pPr>
            <a:r>
              <a:rPr lang="ar-EG" b="true" sz="1350">
                <a:solidFill>
                  <a:srgbClr val="FFFFFF"/>
                </a:solidFill>
                <a:latin typeface="Noto Sans Arabic Bold"/>
                <a:ea typeface="Noto Sans Arabic Bold"/>
                <a:cs typeface="Noto Sans Arabic Bold"/>
                <a:sym typeface="Noto Sans Arabic Bold"/>
                <a:rtl val="true"/>
              </a:rPr>
              <a:t>مدة الإجازة</a:t>
            </a:r>
          </a:p>
        </p:txBody>
      </p:sp>
      <p:sp>
        <p:nvSpPr>
          <p:cNvPr name="TextBox 51" id="51"/>
          <p:cNvSpPr txBox="true"/>
          <p:nvPr/>
        </p:nvSpPr>
        <p:spPr>
          <a:xfrm rot="0">
            <a:off x="8956291" y="4771530"/>
            <a:ext cx="927383" cy="27340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rtl="true">
              <a:lnSpc>
                <a:spcPts val="1889"/>
              </a:lnSpc>
            </a:pPr>
            <a:r>
              <a:rPr lang="ar-EG" b="true" sz="1350">
                <a:solidFill>
                  <a:srgbClr val="366FB5"/>
                </a:solidFill>
                <a:latin typeface="Noto Sans Arabic Bold"/>
                <a:ea typeface="Noto Sans Arabic Bold"/>
                <a:cs typeface="Noto Sans Arabic Bold"/>
                <a:sym typeface="Noto Sans Arabic Bold"/>
                <a:rtl val="true"/>
              </a:rPr>
              <a:t>تاريخ الخروج</a:t>
            </a:r>
          </a:p>
        </p:txBody>
      </p:sp>
      <p:sp>
        <p:nvSpPr>
          <p:cNvPr name="TextBox 52" id="52"/>
          <p:cNvSpPr txBox="true"/>
          <p:nvPr/>
        </p:nvSpPr>
        <p:spPr>
          <a:xfrm rot="0">
            <a:off x="8941184" y="4238006"/>
            <a:ext cx="958158" cy="27340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rtl="true">
              <a:lnSpc>
                <a:spcPts val="1889"/>
              </a:lnSpc>
            </a:pPr>
            <a:r>
              <a:rPr lang="ar-EG" b="true" sz="1350">
                <a:solidFill>
                  <a:srgbClr val="366FB5"/>
                </a:solidFill>
                <a:latin typeface="Noto Sans Arabic Bold"/>
                <a:ea typeface="Noto Sans Arabic Bold"/>
                <a:cs typeface="Noto Sans Arabic Bold"/>
                <a:sym typeface="Noto Sans Arabic Bold"/>
                <a:rtl val="true"/>
              </a:rPr>
              <a:t>تاريخ الدخول</a:t>
            </a:r>
          </a:p>
        </p:txBody>
      </p:sp>
      <p:sp>
        <p:nvSpPr>
          <p:cNvPr name="TextBox 53" id="53"/>
          <p:cNvSpPr txBox="true"/>
          <p:nvPr/>
        </p:nvSpPr>
        <p:spPr>
          <a:xfrm rot="0">
            <a:off x="8891397" y="7989075"/>
            <a:ext cx="1059590" cy="27340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rtl="true">
              <a:lnSpc>
                <a:spcPts val="1889"/>
              </a:lnSpc>
            </a:pPr>
            <a:r>
              <a:rPr lang="ar-EG" b="true" sz="1350">
                <a:solidFill>
                  <a:srgbClr val="366FB5"/>
                </a:solidFill>
                <a:latin typeface="Noto Sans Arabic Bold"/>
                <a:ea typeface="Noto Sans Arabic Bold"/>
                <a:cs typeface="Noto Sans Arabic Bold"/>
                <a:sym typeface="Noto Sans Arabic Bold"/>
                <a:rtl val="true"/>
              </a:rPr>
              <a:t>اسم الممارس</a:t>
            </a:r>
          </a:p>
        </p:txBody>
      </p:sp>
      <p:sp>
        <p:nvSpPr>
          <p:cNvPr name="TextBox 54" id="54"/>
          <p:cNvSpPr txBox="true"/>
          <p:nvPr/>
        </p:nvSpPr>
        <p:spPr>
          <a:xfrm rot="0">
            <a:off x="8770877" y="8538734"/>
            <a:ext cx="1305649" cy="27340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rtl="true">
              <a:lnSpc>
                <a:spcPts val="1889"/>
              </a:lnSpc>
            </a:pPr>
            <a:r>
              <a:rPr lang="ar-EG" b="true" sz="1350">
                <a:solidFill>
                  <a:srgbClr val="366FB5"/>
                </a:solidFill>
                <a:latin typeface="Noto Sans Arabic Bold"/>
                <a:ea typeface="Noto Sans Arabic Bold"/>
                <a:cs typeface="Noto Sans Arabic Bold"/>
                <a:sym typeface="Noto Sans Arabic Bold"/>
                <a:rtl val="true"/>
              </a:rPr>
              <a:t>المسمى الوظيفى</a:t>
            </a:r>
          </a:p>
        </p:txBody>
      </p:sp>
      <p:sp>
        <p:nvSpPr>
          <p:cNvPr name="TextBox 55" id="55"/>
          <p:cNvSpPr txBox="true"/>
          <p:nvPr/>
        </p:nvSpPr>
        <p:spPr>
          <a:xfrm rot="0">
            <a:off x="8578310" y="6372235"/>
            <a:ext cx="1657893" cy="23241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 rtl="true">
              <a:lnSpc>
                <a:spcPts val="1889"/>
              </a:lnSpc>
            </a:pPr>
            <a:r>
              <a:rPr lang="ar-EG" b="true" sz="1350">
                <a:solidFill>
                  <a:srgbClr val="366FB5"/>
                </a:solidFill>
                <a:latin typeface="Noto Sans Arabic Bold"/>
                <a:ea typeface="Noto Sans Arabic Bold"/>
                <a:cs typeface="Noto Sans Arabic Bold"/>
                <a:sym typeface="Noto Sans Arabic Bold"/>
                <a:rtl val="true"/>
              </a:rPr>
              <a:t>رقم الهوية / الاقامة</a:t>
            </a:r>
          </a:p>
        </p:txBody>
      </p:sp>
      <p:sp>
        <p:nvSpPr>
          <p:cNvPr name="TextBox 56" id="56"/>
          <p:cNvSpPr txBox="true"/>
          <p:nvPr/>
        </p:nvSpPr>
        <p:spPr>
          <a:xfrm rot="0">
            <a:off x="8727567" y="5305187"/>
            <a:ext cx="1393965" cy="27340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rtl="true">
              <a:lnSpc>
                <a:spcPts val="1889"/>
              </a:lnSpc>
            </a:pPr>
            <a:r>
              <a:rPr lang="ar-EG" b="true" sz="1350">
                <a:solidFill>
                  <a:srgbClr val="366FB5"/>
                </a:solidFill>
                <a:latin typeface="Noto Sans Arabic Bold"/>
                <a:ea typeface="Noto Sans Arabic Bold"/>
                <a:cs typeface="Noto Sans Arabic Bold"/>
                <a:sym typeface="Noto Sans Arabic Bold"/>
                <a:rtl val="true"/>
              </a:rPr>
              <a:t>تاريخ إصدار التقرير</a:t>
            </a:r>
          </a:p>
        </p:txBody>
      </p:sp>
      <p:sp>
        <p:nvSpPr>
          <p:cNvPr name="TextBox 57" id="57"/>
          <p:cNvSpPr txBox="true"/>
          <p:nvPr/>
        </p:nvSpPr>
        <p:spPr>
          <a:xfrm rot="0">
            <a:off x="906018" y="10577798"/>
            <a:ext cx="4023236" cy="78614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 rtl="true">
              <a:lnSpc>
                <a:spcPts val="2376"/>
              </a:lnSpc>
            </a:pPr>
            <a:r>
              <a:rPr lang="ar-EG" b="true" sz="1125">
                <a:solidFill>
                  <a:srgbClr val="000000"/>
                </a:solidFill>
                <a:latin typeface="Noto Sans Arabic Bold"/>
                <a:ea typeface="Noto Sans Arabic Bold"/>
                <a:cs typeface="Noto Sans Arabic Bold"/>
                <a:sym typeface="Noto Sans Arabic Bold"/>
                <a:rtl val="true"/>
              </a:rPr>
              <a:t>للتحقق من بيانات التقرير يرجى التأكد من زيارة موقع منصة صحة الرسمي </a:t>
            </a:r>
          </a:p>
          <a:p>
            <a:pPr algn="ctr">
              <a:lnSpc>
                <a:spcPts val="1293"/>
              </a:lnSpc>
            </a:pPr>
            <a:r>
              <a:rPr lang="en-US" b="true" sz="1125">
                <a:solidFill>
                  <a:srgbClr val="000000"/>
                </a:solidFill>
                <a:latin typeface="Times New Roman Bold"/>
                <a:ea typeface="Times New Roman Bold"/>
                <a:cs typeface="Times New Roman Bold"/>
                <a:sym typeface="Times New Roman Bold"/>
              </a:rPr>
              <a:t>To check the report please visit Seha's offical website</a:t>
            </a:r>
          </a:p>
        </p:txBody>
      </p:sp>
      <p:sp>
        <p:nvSpPr>
          <p:cNvPr name="TextBox 58" id="58"/>
          <p:cNvSpPr txBox="true"/>
          <p:nvPr/>
        </p:nvSpPr>
        <p:spPr>
          <a:xfrm rot="0">
            <a:off x="1619560" y="11440144"/>
            <a:ext cx="2592271" cy="169069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1293"/>
              </a:lnSpc>
            </a:pPr>
            <a:r>
              <a:rPr lang="en-US" b="true" sz="1125">
                <a:solidFill>
                  <a:srgbClr val="0000FF"/>
                </a:solidFill>
                <a:latin typeface="Times New Roman Bold"/>
                <a:ea typeface="Times New Roman Bold"/>
                <a:cs typeface="Times New Roman Bold"/>
                <a:sym typeface="Times New Roman Bold"/>
                <a:hlinkClick r:id="rId9" tooltip="https://sihasa.vercel.app"/>
              </a:rPr>
              <a:t>sihasa.vercel.app</a:t>
            </a:r>
            <a:r>
              <a:rPr lang="en-US" b="true" sz="1125">
                <a:solidFill>
                  <a:srgbClr val="0000FF"/>
                </a:solidFill>
                <a:latin typeface="Times New Roman Bold"/>
                <a:ea typeface="Times New Roman Bold"/>
                <a:cs typeface="Times New Roman Bold"/>
                <a:sym typeface="Times New Roman Bold"/>
                <a:hlinkClick r:id="rId10" tooltip="https://iVBORw0KGgoAAAANSUhEUgAAAuQAAALkAQAAAABv3x3IAAACYElEQVR4nO3aQZKjMAwFUN+A+98yN/BUzYAly04qi55N+2lBAbae2P2CpPX/WK9Gp9PpdDqdTqfT6XQ6nU6n0+l0Op1Op9Ppv1Fvta773r16/Wt4Fq4PbXQ6nU6n09P9PvfnhlSf2+h0Op1OP16/+65xuR7+jij5XdrodDqdTqdv9bhsbRvxdDqdTqfTv9QjofOWi06n0+l0+jf6fljbBPb6O+6i0Ol0Op1+sl5qSugPh7WNTqfT6fTj9V1Ff1y+Deyl6HQ6nU4/WY8vytOfinMal38bv+azMpFOp9Pp9JP1nnN5OfTx5htJHnofEU+n0+l0On3o0XUNruU5+bJvtnQ6nU6n0+kVzgvxIrzkctp8A3Q6nU6n09/tfWK6vAOXYF8Cm06n0+n0w/UMPzEdl1l6Zpdhywg6nU6n08/Vy5zg7pr0GLHrpdPpdDqdPt58373bttxaOnZFp9PpdDo9v+/uzHhX3sHfpDadTqfT6Yfo+eyBMzLFeV59htHpdDqdTt/unS5jSz6LhamNTqfT6fTj9X1XcKUy0spT0Ol0Op1+vB4xnftfo6tEcl82l1U6nU6n00/Wd5XnrPdypq9ndDqdTqefrLdaV92b7i2Hp/Jz0Ol0Op1+sn7lpei64am/zM4j8vPQ6XQ6nX60HjvubfGD7PSpuWR1GUun0+l0On2jt02VEM/pTqfT6XQ6/YMeWZ1TO0Zco5dOp9PpdPpXX5nLxDbXPbaPR4mi0+l0Ov1kvVSO3xZwIHlsmUOn0+l0+uH6zxedTqfT6XQ6nU6n0+l0Op1Op9PpdDqdTqf/Iv0P+tt93VO+3TQAAAAASUVORK5CYII="/>
              </a:rPr>
              <a:t>/#/inquiries/slenquiry</a:t>
            </a:r>
          </a:p>
        </p:txBody>
      </p:sp>
      <p:sp>
        <p:nvSpPr>
          <p:cNvPr name="TextBox 59" id="59"/>
          <p:cNvSpPr txBox="true"/>
          <p:nvPr/>
        </p:nvSpPr>
        <p:spPr>
          <a:xfrm rot="0">
            <a:off x="2878198" y="11381232"/>
            <a:ext cx="36433" cy="217399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293"/>
              </a:lnSpc>
            </a:pPr>
            <a:r>
              <a:rPr lang="en-US" sz="1125">
                <a:solidFill>
                  <a:srgbClr val="000000"/>
                </a:solidFill>
                <a:latin typeface="Arab Times"/>
                <a:ea typeface="Arab Times"/>
                <a:cs typeface="Arab Times"/>
                <a:sym typeface="Arab Times"/>
              </a:rPr>
              <a:t> </a:t>
            </a:r>
          </a:p>
        </p:txBody>
      </p:sp>
      <p:sp>
        <p:nvSpPr>
          <p:cNvPr name="TextBox 60" id="60"/>
          <p:cNvSpPr txBox="true"/>
          <p:nvPr/>
        </p:nvSpPr>
        <p:spPr>
          <a:xfrm rot="0">
            <a:off x="5521328" y="10680021"/>
            <a:ext cx="5170672" cy="20574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1784"/>
              </a:lnSpc>
            </a:pPr>
            <a:r>
              <a:rPr lang="en-US" b="true" sz="1275">
                <a:solidFill>
                  <a:srgbClr val="000000"/>
                </a:solidFill>
                <a:latin typeface="Noto Sans Arabic Bold"/>
                <a:ea typeface="Noto Sans Arabic Bold"/>
                <a:cs typeface="Noto Sans Arabic Bold"/>
                <a:sym typeface="Noto Sans Arabic Bold"/>
              </a:rPr>
              <a:t>{{HOSPITAL_NAME_AR}}</a:t>
            </a:r>
          </a:p>
        </p:txBody>
      </p:sp>
      <p:sp>
        <p:nvSpPr>
          <p:cNvPr name="TextBox 61" id="61"/>
          <p:cNvSpPr txBox="true"/>
          <p:nvPr/>
        </p:nvSpPr>
        <p:spPr>
          <a:xfrm rot="0">
            <a:off x="5530853" y="11208210"/>
            <a:ext cx="5161147" cy="20574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 rtl="true">
              <a:lnSpc>
                <a:spcPts val="1784"/>
              </a:lnSpc>
            </a:pPr>
            <a:r>
              <a:rPr lang="ar-EG" b="true" sz="1275">
                <a:solidFill>
                  <a:srgbClr val="000000"/>
                </a:solidFill>
                <a:latin typeface="Noto Sans Arabic Bold"/>
                <a:ea typeface="Noto Sans Arabic Bold"/>
                <a:cs typeface="Noto Sans Arabic Bold"/>
                <a:sym typeface="Noto Sans Arabic Bold"/>
                <a:rtl val="true"/>
              </a:rPr>
              <a:t>رقم الترخيص : </a:t>
            </a:r>
            <a:r>
              <a:rPr lang="en-US" b="true" sz="1275">
                <a:solidFill>
                  <a:srgbClr val="000000"/>
                </a:solidFill>
                <a:latin typeface="Noto Sans Arabic Bold"/>
                <a:ea typeface="Noto Sans Arabic Bold"/>
                <a:cs typeface="Noto Sans Arabic Bold"/>
                <a:sym typeface="Noto Sans Arabic Bold"/>
              </a:rPr>
              <a:t>1410101201200270</a:t>
            </a:r>
          </a:p>
        </p:txBody>
      </p:sp>
      <p:sp>
        <p:nvSpPr>
          <p:cNvPr name="TextBox 62" id="62"/>
          <p:cNvSpPr txBox="true"/>
          <p:nvPr/>
        </p:nvSpPr>
        <p:spPr>
          <a:xfrm rot="0">
            <a:off x="4291884" y="2301223"/>
            <a:ext cx="2255358" cy="333578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2613"/>
              </a:lnSpc>
            </a:pPr>
            <a:r>
              <a:rPr lang="en-US" b="true" sz="1867">
                <a:solidFill>
                  <a:srgbClr val="2C3E77"/>
                </a:solidFill>
                <a:latin typeface="Times New Roman Bold"/>
                <a:ea typeface="Times New Roman Bold"/>
                <a:cs typeface="Times New Roman Bold"/>
                <a:sym typeface="Times New Roman Bold"/>
              </a:rPr>
              <a:t>Sick Leave Report</a:t>
            </a:r>
          </a:p>
        </p:txBody>
      </p:sp>
      <p:sp>
        <p:nvSpPr>
          <p:cNvPr name="TextBox 63" id="63"/>
          <p:cNvSpPr txBox="true"/>
          <p:nvPr/>
        </p:nvSpPr>
        <p:spPr>
          <a:xfrm rot="0">
            <a:off x="476250" y="12076414"/>
            <a:ext cx="2913563" cy="322421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741"/>
              </a:lnSpc>
            </a:pPr>
            <a:r>
              <a:rPr lang="en-US" b="true" sz="1275">
                <a:solidFill>
                  <a:srgbClr val="000000"/>
                </a:solidFill>
                <a:latin typeface="Times New Roman Bold"/>
                <a:ea typeface="Times New Roman Bold"/>
                <a:cs typeface="Times New Roman Bold"/>
                <a:sym typeface="Times New Roman Bold"/>
              </a:rPr>
              <a:t>{{PRINT_DATE}}</a:t>
            </a:r>
          </a:p>
        </p:txBody>
      </p:sp>
      <p:sp>
        <p:nvSpPr>
          <p:cNvPr name="Freeform 64" id="64"/>
          <p:cNvSpPr/>
          <p:nvPr/>
        </p:nvSpPr>
        <p:spPr>
          <a:xfrm flipH="false" flipV="false" rot="0">
            <a:off x="7475112" y="9291757"/>
            <a:ext cx="1343147" cy="1217227"/>
          </a:xfrm>
          <a:custGeom>
            <a:avLst/>
            <a:gdLst/>
            <a:ahLst/>
            <a:cxnLst/>
            <a:rect r="r" b="b" t="t" l="l"/>
            <a:pathLst>
              <a:path h="1217227" w="1343147">
                <a:moveTo>
                  <a:pt x="0" y="0"/>
                </a:moveTo>
                <a:lnTo>
                  <a:pt x="1343146" y="0"/>
                </a:lnTo>
                <a:lnTo>
                  <a:pt x="1343146" y="1217226"/>
                </a:lnTo>
                <a:lnTo>
                  <a:pt x="0" y="1217226"/>
                </a:lnTo>
                <a:lnTo>
                  <a:pt x="0" y="0"/>
                </a:lnTo>
                <a:close/>
              </a:path>
            </a:pathLst>
          </a:custGeom>
          <a:blipFill>
            <a:blip r:embed="rId11"/>
            <a:stretch>
              <a:fillRect l="0" t="0" r="0" b="0"/>
            </a:stretch>
          </a:blipFill>
        </p:spPr>
      </p:sp>
      <p:sp>
        <p:nvSpPr>
          <p:cNvPr name="TextBox 65" id="65"/>
          <p:cNvSpPr txBox="true"/>
          <p:nvPr/>
        </p:nvSpPr>
        <p:spPr>
          <a:xfrm rot="0">
            <a:off x="5871210" y="3694328"/>
            <a:ext cx="169288" cy="24193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889"/>
              </a:lnSpc>
            </a:pPr>
            <a:r>
              <a:rPr lang="en-US" sz="1350" spc="-4">
                <a:solidFill>
                  <a:srgbClr val="FFFFFF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( </a:t>
            </a:r>
          </a:p>
        </p:txBody>
      </p:sp>
      <p:sp>
        <p:nvSpPr>
          <p:cNvPr name="TextBox 66" id="66"/>
          <p:cNvSpPr txBox="true"/>
          <p:nvPr/>
        </p:nvSpPr>
        <p:spPr>
          <a:xfrm rot="0">
            <a:off x="7491755" y="3708073"/>
            <a:ext cx="397016" cy="24193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r">
              <a:lnSpc>
                <a:spcPts val="1889"/>
              </a:lnSpc>
            </a:pPr>
            <a:r>
              <a:rPr lang="en-US" sz="1350" spc="-4">
                <a:solidFill>
                  <a:srgbClr val="FFFFFF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) </a:t>
            </a:r>
          </a:p>
        </p:txBody>
      </p:sp>
      <p:sp>
        <p:nvSpPr>
          <p:cNvPr name="TextBox 67" id="67"/>
          <p:cNvSpPr txBox="true"/>
          <p:nvPr/>
        </p:nvSpPr>
        <p:spPr>
          <a:xfrm rot="0">
            <a:off x="2896414" y="3694328"/>
            <a:ext cx="354715" cy="24193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1889"/>
              </a:lnSpc>
            </a:pPr>
            <a:r>
              <a:rPr lang="en-US" sz="1350" spc="-4">
                <a:solidFill>
                  <a:srgbClr val="FFFFFF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day</a:t>
            </a:r>
          </a:p>
        </p:txBody>
      </p:sp>
      <p:sp>
        <p:nvSpPr>
          <p:cNvPr name="TextBox 68" id="68"/>
          <p:cNvSpPr txBox="true"/>
          <p:nvPr/>
        </p:nvSpPr>
        <p:spPr>
          <a:xfrm rot="0">
            <a:off x="3202486" y="3694328"/>
            <a:ext cx="169288" cy="24193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1889"/>
              </a:lnSpc>
            </a:pPr>
            <a:r>
              <a:rPr lang="en-US" sz="1350" spc="-4">
                <a:solidFill>
                  <a:srgbClr val="FFFFFF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( </a:t>
            </a:r>
          </a:p>
        </p:txBody>
      </p:sp>
      <p:sp>
        <p:nvSpPr>
          <p:cNvPr name="TextBox 69" id="69"/>
          <p:cNvSpPr txBox="true"/>
          <p:nvPr/>
        </p:nvSpPr>
        <p:spPr>
          <a:xfrm rot="0">
            <a:off x="5184622" y="3690118"/>
            <a:ext cx="184225" cy="24193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just">
              <a:lnSpc>
                <a:spcPts val="1889"/>
              </a:lnSpc>
            </a:pPr>
            <a:r>
              <a:rPr lang="en-US" sz="1350" spc="-4">
                <a:solidFill>
                  <a:srgbClr val="FFFFFF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) </a:t>
            </a:r>
          </a:p>
        </p:txBody>
      </p:sp>
      <p:sp>
        <p:nvSpPr>
          <p:cNvPr name="TextBox 70" id="70"/>
          <p:cNvSpPr txBox="true"/>
          <p:nvPr/>
        </p:nvSpPr>
        <p:spPr>
          <a:xfrm rot="0">
            <a:off x="4182207" y="3686442"/>
            <a:ext cx="354715" cy="24193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889"/>
              </a:lnSpc>
            </a:pPr>
            <a:r>
              <a:rPr lang="en-US" sz="1350" spc="-4">
                <a:solidFill>
                  <a:srgbClr val="FFFFFF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to</a:t>
            </a:r>
          </a:p>
        </p:txBody>
      </p:sp>
      <p:sp>
        <p:nvSpPr>
          <p:cNvPr name="TextBox 71" id="71"/>
          <p:cNvSpPr txBox="true"/>
          <p:nvPr/>
        </p:nvSpPr>
        <p:spPr>
          <a:xfrm rot="0">
            <a:off x="3213364" y="3685361"/>
            <a:ext cx="917943" cy="71818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r">
              <a:lnSpc>
                <a:spcPts val="1889"/>
              </a:lnSpc>
            </a:pPr>
            <a:r>
              <a:rPr lang="en-US" sz="1350" spc="-4">
                <a:solidFill>
                  <a:srgbClr val="FFFFFF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{{ENTRY_DATE_GREGORIAN}}</a:t>
            </a:r>
          </a:p>
        </p:txBody>
      </p:sp>
      <p:sp>
        <p:nvSpPr>
          <p:cNvPr name="TextBox 72" id="72"/>
          <p:cNvSpPr txBox="true"/>
          <p:nvPr/>
        </p:nvSpPr>
        <p:spPr>
          <a:xfrm rot="0">
            <a:off x="4358791" y="3685361"/>
            <a:ext cx="917943" cy="71818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889"/>
              </a:lnSpc>
            </a:pPr>
            <a:r>
              <a:rPr lang="en-US" sz="1350" spc="-4">
                <a:solidFill>
                  <a:srgbClr val="FFFFFF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{{EXIT_DATE_GREGORIAN}}</a:t>
            </a:r>
          </a:p>
        </p:txBody>
      </p:sp>
      <p:sp>
        <p:nvSpPr>
          <p:cNvPr name="TextBox 73" id="73"/>
          <p:cNvSpPr txBox="true"/>
          <p:nvPr/>
        </p:nvSpPr>
        <p:spPr>
          <a:xfrm rot="0">
            <a:off x="2545871" y="7827397"/>
            <a:ext cx="3023083" cy="38671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3375"/>
              </a:lnSpc>
            </a:pPr>
            <a:r>
              <a:rPr lang="en-US" sz="1350" spc="-4">
                <a:solidFill>
                  <a:srgbClr val="2C3E77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{{DOCTOR_NAME_EN}}</a:t>
            </a:r>
          </a:p>
        </p:txBody>
      </p:sp>
      <p:sp>
        <p:nvSpPr>
          <p:cNvPr name="TextBox 74" id="74"/>
          <p:cNvSpPr txBox="true"/>
          <p:nvPr/>
        </p:nvSpPr>
        <p:spPr>
          <a:xfrm rot="0">
            <a:off x="2530382" y="6752215"/>
            <a:ext cx="3023083" cy="38671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3375"/>
              </a:lnSpc>
            </a:pPr>
            <a:r>
              <a:rPr lang="en-US" sz="1350" spc="-4">
                <a:solidFill>
                  <a:srgbClr val="2C3E77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{{NATIONALITY_EN}}</a:t>
            </a:r>
          </a:p>
        </p:txBody>
      </p:sp>
      <p:sp>
        <p:nvSpPr>
          <p:cNvPr name="TextBox 75" id="75"/>
          <p:cNvSpPr txBox="true"/>
          <p:nvPr/>
        </p:nvSpPr>
        <p:spPr>
          <a:xfrm rot="0">
            <a:off x="2541489" y="5680529"/>
            <a:ext cx="3023083" cy="38671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3375"/>
              </a:lnSpc>
            </a:pPr>
            <a:r>
              <a:rPr lang="en-US" sz="1350" spc="-4">
                <a:solidFill>
                  <a:srgbClr val="2C3E77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{{NAME_EN}}</a:t>
            </a:r>
          </a:p>
        </p:txBody>
      </p:sp>
      <p:sp>
        <p:nvSpPr>
          <p:cNvPr name="TextBox 76" id="76"/>
          <p:cNvSpPr txBox="true"/>
          <p:nvPr/>
        </p:nvSpPr>
        <p:spPr>
          <a:xfrm rot="0">
            <a:off x="2510633" y="3012896"/>
            <a:ext cx="6107877" cy="38671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3375"/>
              </a:lnSpc>
            </a:pPr>
            <a:r>
              <a:rPr lang="en-US" sz="1350" spc="-4">
                <a:solidFill>
                  <a:srgbClr val="2C3E77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{{SERVICE_CODE}}</a:t>
            </a:r>
          </a:p>
        </p:txBody>
      </p:sp>
      <p:sp>
        <p:nvSpPr>
          <p:cNvPr name="TextBox 77" id="77"/>
          <p:cNvSpPr txBox="true"/>
          <p:nvPr/>
        </p:nvSpPr>
        <p:spPr>
          <a:xfrm rot="0">
            <a:off x="5530853" y="10925065"/>
            <a:ext cx="5170672" cy="22479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1784"/>
              </a:lnSpc>
            </a:pPr>
            <a:r>
              <a:rPr lang="en-US" b="true" sz="1275">
                <a:solidFill>
                  <a:srgbClr val="000000"/>
                </a:solidFill>
                <a:latin typeface="Times New Roman Bold"/>
                <a:ea typeface="Times New Roman Bold"/>
                <a:cs typeface="Times New Roman Bold"/>
                <a:sym typeface="Times New Roman Bold"/>
              </a:rPr>
              <a:t>{{HOSPITAL_NAME_EN}}</a:t>
            </a:r>
          </a:p>
        </p:txBody>
      </p:sp>
      <p:sp>
        <p:nvSpPr>
          <p:cNvPr name="TextBox 78" id="78"/>
          <p:cNvSpPr txBox="true"/>
          <p:nvPr/>
        </p:nvSpPr>
        <p:spPr>
          <a:xfrm rot="0">
            <a:off x="476250" y="11771138"/>
            <a:ext cx="2913563" cy="322421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741"/>
              </a:lnSpc>
            </a:pPr>
            <a:r>
              <a:rPr lang="en-US" b="true" sz="1275">
                <a:solidFill>
                  <a:srgbClr val="000000"/>
                </a:solidFill>
                <a:latin typeface="Times New Roman Bold"/>
                <a:ea typeface="Times New Roman Bold"/>
                <a:cs typeface="Times New Roman Bold"/>
                <a:sym typeface="Times New Roman Bold"/>
              </a:rPr>
              <a:t>{{PRINT_TIME}}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Company/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xsi="http://www.w3.org/2001/XMLSchema-instance">
  <dcterms:created xsi:type="dcterms:W3CDTF">2006-08-16T00:00:00Z</dcterms:created>
  <dc:identifier>DAG9MLGmOeo</dc:identifier>
  <dcterms:modified xsi:type="dcterms:W3CDTF">2011-08-01T06:04:30Z</dcterms:modified>
  <cp:revision>1</cp:revision>
  <dc:title>نسخة من sickLeaves-11.pdf</dc:title>
</cp:coreProperties>
</file>